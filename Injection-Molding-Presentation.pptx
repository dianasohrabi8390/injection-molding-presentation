
<file path=[Content_Types].xml><?xml version="1.0" encoding="utf-8"?>
<Types xmlns="http://schemas.openxmlformats.org/package/2006/content-types">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84" r:id="rId7"/>
    <p:sldId id="285" r:id="rId8"/>
    <p:sldId id="286" r:id="rId9"/>
    <p:sldId id="262" r:id="rId10"/>
    <p:sldId id="263" r:id="rId11"/>
    <p:sldId id="283" r:id="rId12"/>
    <p:sldId id="274" r:id="rId13"/>
    <p:sldId id="275" r:id="rId14"/>
    <p:sldId id="276" r:id="rId15"/>
    <p:sldId id="291" r:id="rId16"/>
    <p:sldId id="296" r:id="rId17"/>
    <p:sldId id="277" r:id="rId18"/>
    <p:sldId id="295" r:id="rId19"/>
    <p:sldId id="278" r:id="rId20"/>
    <p:sldId id="265" r:id="rId21"/>
    <p:sldId id="279" r:id="rId22"/>
    <p:sldId id="287" r:id="rId23"/>
    <p:sldId id="288" r:id="rId24"/>
    <p:sldId id="289" r:id="rId25"/>
    <p:sldId id="290" r:id="rId26"/>
    <p:sldId id="2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0066A4"/>
    <a:srgbClr val="0072B8"/>
    <a:srgbClr val="FFCCCC"/>
    <a:srgbClr val="0081E2"/>
    <a:srgbClr val="F2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88" autoAdjust="0"/>
    <p:restoredTop sz="94660"/>
  </p:normalViewPr>
  <p:slideViewPr>
    <p:cSldViewPr snapToGrid="0">
      <p:cViewPr varScale="1">
        <p:scale>
          <a:sx n="68" d="100"/>
          <a:sy n="68" d="100"/>
        </p:scale>
        <p:origin x="78" y="7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DFAAD-A11A-1D54-3B8F-5011248277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8A8B31-56FF-9903-5E82-43A48DBA11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226A49-6BFA-BA4A-65D4-99C8E651C7EC}"/>
              </a:ext>
            </a:extLst>
          </p:cNvPr>
          <p:cNvSpPr>
            <a:spLocks noGrp="1"/>
          </p:cNvSpPr>
          <p:nvPr>
            <p:ph type="dt" sz="half" idx="10"/>
          </p:nvPr>
        </p:nvSpPr>
        <p:spPr/>
        <p:txBody>
          <a:bodyPr/>
          <a:lstStyle/>
          <a:p>
            <a:fld id="{6DE746BC-6457-4FBE-A124-C0B18F7EEE09}" type="datetimeFigureOut">
              <a:rPr lang="en-US" smtClean="0"/>
              <a:t>6/14/2026</a:t>
            </a:fld>
            <a:endParaRPr lang="en-US"/>
          </a:p>
        </p:txBody>
      </p:sp>
      <p:sp>
        <p:nvSpPr>
          <p:cNvPr id="5" name="Footer Placeholder 4">
            <a:extLst>
              <a:ext uri="{FF2B5EF4-FFF2-40B4-BE49-F238E27FC236}">
                <a16:creationId xmlns:a16="http://schemas.microsoft.com/office/drawing/2014/main" id="{F7A5DCAA-EC89-DF89-00B7-45D0F226F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7A28F-D93E-5F5B-C243-3FCD2C57783B}"/>
              </a:ext>
            </a:extLst>
          </p:cNvPr>
          <p:cNvSpPr>
            <a:spLocks noGrp="1"/>
          </p:cNvSpPr>
          <p:nvPr>
            <p:ph type="sldNum" sz="quarter" idx="12"/>
          </p:nvPr>
        </p:nvSpPr>
        <p:spPr/>
        <p:txBody>
          <a:bodyPr/>
          <a:lstStyle/>
          <a:p>
            <a:fld id="{AC9A10C9-6EBF-4BF6-B927-1E0AA83ECD90}" type="slidenum">
              <a:rPr lang="en-US" smtClean="0"/>
              <a:t>‹#›</a:t>
            </a:fld>
            <a:endParaRPr lang="en-US"/>
          </a:p>
        </p:txBody>
      </p:sp>
    </p:spTree>
    <p:extLst>
      <p:ext uri="{BB962C8B-B14F-4D97-AF65-F5344CB8AC3E}">
        <p14:creationId xmlns:p14="http://schemas.microsoft.com/office/powerpoint/2010/main" val="1937186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56EA6-CB1D-D475-CB34-896BF31E3E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110C12-6C75-14D2-45E0-221BF9E907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6C8FAF-7AE7-7ABB-131A-E566EA50E5AE}"/>
              </a:ext>
            </a:extLst>
          </p:cNvPr>
          <p:cNvSpPr>
            <a:spLocks noGrp="1"/>
          </p:cNvSpPr>
          <p:nvPr>
            <p:ph type="dt" sz="half" idx="10"/>
          </p:nvPr>
        </p:nvSpPr>
        <p:spPr/>
        <p:txBody>
          <a:bodyPr/>
          <a:lstStyle/>
          <a:p>
            <a:fld id="{6DE746BC-6457-4FBE-A124-C0B18F7EEE09}" type="datetimeFigureOut">
              <a:rPr lang="en-US" smtClean="0"/>
              <a:t>6/14/2026</a:t>
            </a:fld>
            <a:endParaRPr lang="en-US"/>
          </a:p>
        </p:txBody>
      </p:sp>
      <p:sp>
        <p:nvSpPr>
          <p:cNvPr id="5" name="Footer Placeholder 4">
            <a:extLst>
              <a:ext uri="{FF2B5EF4-FFF2-40B4-BE49-F238E27FC236}">
                <a16:creationId xmlns:a16="http://schemas.microsoft.com/office/drawing/2014/main" id="{99F08C28-9BCE-F776-0889-EAFC65A5AF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7C42A2-BAE1-97F0-3D75-D401FDBF699C}"/>
              </a:ext>
            </a:extLst>
          </p:cNvPr>
          <p:cNvSpPr>
            <a:spLocks noGrp="1"/>
          </p:cNvSpPr>
          <p:nvPr>
            <p:ph type="sldNum" sz="quarter" idx="12"/>
          </p:nvPr>
        </p:nvSpPr>
        <p:spPr/>
        <p:txBody>
          <a:bodyPr/>
          <a:lstStyle/>
          <a:p>
            <a:fld id="{AC9A10C9-6EBF-4BF6-B927-1E0AA83ECD90}" type="slidenum">
              <a:rPr lang="en-US" smtClean="0"/>
              <a:t>‹#›</a:t>
            </a:fld>
            <a:endParaRPr lang="en-US"/>
          </a:p>
        </p:txBody>
      </p:sp>
    </p:spTree>
    <p:extLst>
      <p:ext uri="{BB962C8B-B14F-4D97-AF65-F5344CB8AC3E}">
        <p14:creationId xmlns:p14="http://schemas.microsoft.com/office/powerpoint/2010/main" val="113037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E506A-A647-606B-9D80-952CF160A4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766DF9-C7E2-AD00-FD1C-7D25084EFD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5B43FF-CBD3-EB65-777A-B025A4E7F18E}"/>
              </a:ext>
            </a:extLst>
          </p:cNvPr>
          <p:cNvSpPr>
            <a:spLocks noGrp="1"/>
          </p:cNvSpPr>
          <p:nvPr>
            <p:ph type="dt" sz="half" idx="10"/>
          </p:nvPr>
        </p:nvSpPr>
        <p:spPr/>
        <p:txBody>
          <a:bodyPr/>
          <a:lstStyle/>
          <a:p>
            <a:fld id="{6DE746BC-6457-4FBE-A124-C0B18F7EEE09}" type="datetimeFigureOut">
              <a:rPr lang="en-US" smtClean="0"/>
              <a:t>6/14/2026</a:t>
            </a:fld>
            <a:endParaRPr lang="en-US"/>
          </a:p>
        </p:txBody>
      </p:sp>
      <p:sp>
        <p:nvSpPr>
          <p:cNvPr id="5" name="Footer Placeholder 4">
            <a:extLst>
              <a:ext uri="{FF2B5EF4-FFF2-40B4-BE49-F238E27FC236}">
                <a16:creationId xmlns:a16="http://schemas.microsoft.com/office/drawing/2014/main" id="{C89ABE95-3DDC-767B-19CF-F2A5504D30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29A404-886C-44F7-2474-37B43164A69F}"/>
              </a:ext>
            </a:extLst>
          </p:cNvPr>
          <p:cNvSpPr>
            <a:spLocks noGrp="1"/>
          </p:cNvSpPr>
          <p:nvPr>
            <p:ph type="sldNum" sz="quarter" idx="12"/>
          </p:nvPr>
        </p:nvSpPr>
        <p:spPr/>
        <p:txBody>
          <a:bodyPr/>
          <a:lstStyle/>
          <a:p>
            <a:fld id="{AC9A10C9-6EBF-4BF6-B927-1E0AA83ECD90}" type="slidenum">
              <a:rPr lang="en-US" smtClean="0"/>
              <a:t>‹#›</a:t>
            </a:fld>
            <a:endParaRPr lang="en-US"/>
          </a:p>
        </p:txBody>
      </p:sp>
    </p:spTree>
    <p:extLst>
      <p:ext uri="{BB962C8B-B14F-4D97-AF65-F5344CB8AC3E}">
        <p14:creationId xmlns:p14="http://schemas.microsoft.com/office/powerpoint/2010/main" val="3849906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260A6-FDCB-BAE2-10AE-21E515278D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A080C4-0B41-1E71-027D-98631BE00E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87905A-CD22-F8BA-B927-368AF68656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D399AC-6C12-7382-E4E7-2C7ADD7EB4DF}"/>
              </a:ext>
            </a:extLst>
          </p:cNvPr>
          <p:cNvSpPr>
            <a:spLocks noGrp="1"/>
          </p:cNvSpPr>
          <p:nvPr>
            <p:ph type="dt" sz="half" idx="10"/>
          </p:nvPr>
        </p:nvSpPr>
        <p:spPr/>
        <p:txBody>
          <a:bodyPr/>
          <a:lstStyle/>
          <a:p>
            <a:fld id="{6DE746BC-6457-4FBE-A124-C0B18F7EEE09}" type="datetimeFigureOut">
              <a:rPr lang="en-US" smtClean="0"/>
              <a:t>6/14/2026</a:t>
            </a:fld>
            <a:endParaRPr lang="en-US"/>
          </a:p>
        </p:txBody>
      </p:sp>
      <p:sp>
        <p:nvSpPr>
          <p:cNvPr id="6" name="Footer Placeholder 5">
            <a:extLst>
              <a:ext uri="{FF2B5EF4-FFF2-40B4-BE49-F238E27FC236}">
                <a16:creationId xmlns:a16="http://schemas.microsoft.com/office/drawing/2014/main" id="{748AE579-4B16-7FFB-791C-E01208ECF9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52DEDC-B291-8DAD-4160-FFBFF66C8E99}"/>
              </a:ext>
            </a:extLst>
          </p:cNvPr>
          <p:cNvSpPr>
            <a:spLocks noGrp="1"/>
          </p:cNvSpPr>
          <p:nvPr>
            <p:ph type="sldNum" sz="quarter" idx="12"/>
          </p:nvPr>
        </p:nvSpPr>
        <p:spPr/>
        <p:txBody>
          <a:bodyPr/>
          <a:lstStyle/>
          <a:p>
            <a:fld id="{AC9A10C9-6EBF-4BF6-B927-1E0AA83ECD90}" type="slidenum">
              <a:rPr lang="en-US" smtClean="0"/>
              <a:t>‹#›</a:t>
            </a:fld>
            <a:endParaRPr lang="en-US"/>
          </a:p>
        </p:txBody>
      </p:sp>
    </p:spTree>
    <p:extLst>
      <p:ext uri="{BB962C8B-B14F-4D97-AF65-F5344CB8AC3E}">
        <p14:creationId xmlns:p14="http://schemas.microsoft.com/office/powerpoint/2010/main" val="2118681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0E97-D109-5E40-62ED-FB0304BFBD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AC956A-21AC-F93E-91BF-00089A7D97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7533DE-366B-3051-D80A-C5A552BAB5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9DD532-E53E-ED92-1C09-225932D2B3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794A69-518B-57C7-4951-85E019D48D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9FC4AF-4391-470F-FEA9-AEE242AC2175}"/>
              </a:ext>
            </a:extLst>
          </p:cNvPr>
          <p:cNvSpPr>
            <a:spLocks noGrp="1"/>
          </p:cNvSpPr>
          <p:nvPr>
            <p:ph type="dt" sz="half" idx="10"/>
          </p:nvPr>
        </p:nvSpPr>
        <p:spPr/>
        <p:txBody>
          <a:bodyPr/>
          <a:lstStyle/>
          <a:p>
            <a:fld id="{6DE746BC-6457-4FBE-A124-C0B18F7EEE09}" type="datetimeFigureOut">
              <a:rPr lang="en-US" smtClean="0"/>
              <a:t>6/14/2026</a:t>
            </a:fld>
            <a:endParaRPr lang="en-US"/>
          </a:p>
        </p:txBody>
      </p:sp>
      <p:sp>
        <p:nvSpPr>
          <p:cNvPr id="8" name="Footer Placeholder 7">
            <a:extLst>
              <a:ext uri="{FF2B5EF4-FFF2-40B4-BE49-F238E27FC236}">
                <a16:creationId xmlns:a16="http://schemas.microsoft.com/office/drawing/2014/main" id="{B4E4F74E-6556-FAE4-ABC5-2726479276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369B17-DFC0-1AF3-EE73-7CC2AA8B43EB}"/>
              </a:ext>
            </a:extLst>
          </p:cNvPr>
          <p:cNvSpPr>
            <a:spLocks noGrp="1"/>
          </p:cNvSpPr>
          <p:nvPr>
            <p:ph type="sldNum" sz="quarter" idx="12"/>
          </p:nvPr>
        </p:nvSpPr>
        <p:spPr/>
        <p:txBody>
          <a:bodyPr/>
          <a:lstStyle/>
          <a:p>
            <a:fld id="{AC9A10C9-6EBF-4BF6-B927-1E0AA83ECD90}" type="slidenum">
              <a:rPr lang="en-US" smtClean="0"/>
              <a:t>‹#›</a:t>
            </a:fld>
            <a:endParaRPr lang="en-US"/>
          </a:p>
        </p:txBody>
      </p:sp>
    </p:spTree>
    <p:extLst>
      <p:ext uri="{BB962C8B-B14F-4D97-AF65-F5344CB8AC3E}">
        <p14:creationId xmlns:p14="http://schemas.microsoft.com/office/powerpoint/2010/main" val="712611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12AD2-D890-D5F4-5049-83D62D7680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C90F2A-594D-834D-3CA8-39279BADBD60}"/>
              </a:ext>
            </a:extLst>
          </p:cNvPr>
          <p:cNvSpPr>
            <a:spLocks noGrp="1"/>
          </p:cNvSpPr>
          <p:nvPr>
            <p:ph type="dt" sz="half" idx="10"/>
          </p:nvPr>
        </p:nvSpPr>
        <p:spPr/>
        <p:txBody>
          <a:bodyPr/>
          <a:lstStyle/>
          <a:p>
            <a:fld id="{6DE746BC-6457-4FBE-A124-C0B18F7EEE09}" type="datetimeFigureOut">
              <a:rPr lang="en-US" smtClean="0"/>
              <a:t>6/14/2026</a:t>
            </a:fld>
            <a:endParaRPr lang="en-US"/>
          </a:p>
        </p:txBody>
      </p:sp>
      <p:sp>
        <p:nvSpPr>
          <p:cNvPr id="4" name="Footer Placeholder 3">
            <a:extLst>
              <a:ext uri="{FF2B5EF4-FFF2-40B4-BE49-F238E27FC236}">
                <a16:creationId xmlns:a16="http://schemas.microsoft.com/office/drawing/2014/main" id="{5FA7DC97-653D-F29E-C3E4-DA420FC455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672D52-8802-5CD0-180C-D0F7DF85A5EE}"/>
              </a:ext>
            </a:extLst>
          </p:cNvPr>
          <p:cNvSpPr>
            <a:spLocks noGrp="1"/>
          </p:cNvSpPr>
          <p:nvPr>
            <p:ph type="sldNum" sz="quarter" idx="12"/>
          </p:nvPr>
        </p:nvSpPr>
        <p:spPr/>
        <p:txBody>
          <a:bodyPr/>
          <a:lstStyle/>
          <a:p>
            <a:fld id="{AC9A10C9-6EBF-4BF6-B927-1E0AA83ECD90}" type="slidenum">
              <a:rPr lang="en-US" smtClean="0"/>
              <a:t>‹#›</a:t>
            </a:fld>
            <a:endParaRPr lang="en-US"/>
          </a:p>
        </p:txBody>
      </p:sp>
    </p:spTree>
    <p:extLst>
      <p:ext uri="{BB962C8B-B14F-4D97-AF65-F5344CB8AC3E}">
        <p14:creationId xmlns:p14="http://schemas.microsoft.com/office/powerpoint/2010/main" val="259708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EA8610-F704-B334-0595-92180B4E8571}"/>
              </a:ext>
            </a:extLst>
          </p:cNvPr>
          <p:cNvSpPr>
            <a:spLocks noGrp="1"/>
          </p:cNvSpPr>
          <p:nvPr>
            <p:ph type="dt" sz="half" idx="10"/>
          </p:nvPr>
        </p:nvSpPr>
        <p:spPr/>
        <p:txBody>
          <a:bodyPr/>
          <a:lstStyle/>
          <a:p>
            <a:fld id="{6DE746BC-6457-4FBE-A124-C0B18F7EEE09}" type="datetimeFigureOut">
              <a:rPr lang="en-US" smtClean="0"/>
              <a:t>6/14/2026</a:t>
            </a:fld>
            <a:endParaRPr lang="en-US"/>
          </a:p>
        </p:txBody>
      </p:sp>
      <p:sp>
        <p:nvSpPr>
          <p:cNvPr id="3" name="Footer Placeholder 2">
            <a:extLst>
              <a:ext uri="{FF2B5EF4-FFF2-40B4-BE49-F238E27FC236}">
                <a16:creationId xmlns:a16="http://schemas.microsoft.com/office/drawing/2014/main" id="{24F18329-CBC7-5F4E-E0D1-FF7B514981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858B24-95AF-F30C-C732-D2E6D6872746}"/>
              </a:ext>
            </a:extLst>
          </p:cNvPr>
          <p:cNvSpPr>
            <a:spLocks noGrp="1"/>
          </p:cNvSpPr>
          <p:nvPr>
            <p:ph type="sldNum" sz="quarter" idx="12"/>
          </p:nvPr>
        </p:nvSpPr>
        <p:spPr/>
        <p:txBody>
          <a:bodyPr/>
          <a:lstStyle/>
          <a:p>
            <a:fld id="{AC9A10C9-6EBF-4BF6-B927-1E0AA83ECD90}" type="slidenum">
              <a:rPr lang="en-US" smtClean="0"/>
              <a:t>‹#›</a:t>
            </a:fld>
            <a:endParaRPr lang="en-US"/>
          </a:p>
        </p:txBody>
      </p:sp>
    </p:spTree>
    <p:extLst>
      <p:ext uri="{BB962C8B-B14F-4D97-AF65-F5344CB8AC3E}">
        <p14:creationId xmlns:p14="http://schemas.microsoft.com/office/powerpoint/2010/main" val="1491492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47641-23E5-250F-61DE-20D1DB68A5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B2CAF0-8C82-7FA5-9BE1-1F2AAFC7A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D0339E-3497-D6F7-ADB1-CDF62EB247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FA1AEF-71F2-F640-4EA3-D03C4FFC28C2}"/>
              </a:ext>
            </a:extLst>
          </p:cNvPr>
          <p:cNvSpPr>
            <a:spLocks noGrp="1"/>
          </p:cNvSpPr>
          <p:nvPr>
            <p:ph type="dt" sz="half" idx="10"/>
          </p:nvPr>
        </p:nvSpPr>
        <p:spPr/>
        <p:txBody>
          <a:bodyPr/>
          <a:lstStyle/>
          <a:p>
            <a:fld id="{6DE746BC-6457-4FBE-A124-C0B18F7EEE09}" type="datetimeFigureOut">
              <a:rPr lang="en-US" smtClean="0"/>
              <a:t>6/14/2026</a:t>
            </a:fld>
            <a:endParaRPr lang="en-US"/>
          </a:p>
        </p:txBody>
      </p:sp>
      <p:sp>
        <p:nvSpPr>
          <p:cNvPr id="6" name="Footer Placeholder 5">
            <a:extLst>
              <a:ext uri="{FF2B5EF4-FFF2-40B4-BE49-F238E27FC236}">
                <a16:creationId xmlns:a16="http://schemas.microsoft.com/office/drawing/2014/main" id="{7CE3062D-5F4D-D2BA-F268-299C47834C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5ACF7D-D930-D67D-C596-BB7064A778F9}"/>
              </a:ext>
            </a:extLst>
          </p:cNvPr>
          <p:cNvSpPr>
            <a:spLocks noGrp="1"/>
          </p:cNvSpPr>
          <p:nvPr>
            <p:ph type="sldNum" sz="quarter" idx="12"/>
          </p:nvPr>
        </p:nvSpPr>
        <p:spPr/>
        <p:txBody>
          <a:bodyPr/>
          <a:lstStyle/>
          <a:p>
            <a:fld id="{AC9A10C9-6EBF-4BF6-B927-1E0AA83ECD90}" type="slidenum">
              <a:rPr lang="en-US" smtClean="0"/>
              <a:t>‹#›</a:t>
            </a:fld>
            <a:endParaRPr lang="en-US"/>
          </a:p>
        </p:txBody>
      </p:sp>
    </p:spTree>
    <p:extLst>
      <p:ext uri="{BB962C8B-B14F-4D97-AF65-F5344CB8AC3E}">
        <p14:creationId xmlns:p14="http://schemas.microsoft.com/office/powerpoint/2010/main" val="644691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36273-6E37-7148-E971-249644341A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60D55A-DBA8-DDEA-FCE0-7CEF4CD0D8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28776D-AFF8-BD7E-7796-0FC4E5BF12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86AEDA-5238-AC65-3A7B-7DEEB8D60DDD}"/>
              </a:ext>
            </a:extLst>
          </p:cNvPr>
          <p:cNvSpPr>
            <a:spLocks noGrp="1"/>
          </p:cNvSpPr>
          <p:nvPr>
            <p:ph type="dt" sz="half" idx="10"/>
          </p:nvPr>
        </p:nvSpPr>
        <p:spPr/>
        <p:txBody>
          <a:bodyPr/>
          <a:lstStyle/>
          <a:p>
            <a:fld id="{6DE746BC-6457-4FBE-A124-C0B18F7EEE09}" type="datetimeFigureOut">
              <a:rPr lang="en-US" smtClean="0"/>
              <a:t>6/14/2026</a:t>
            </a:fld>
            <a:endParaRPr lang="en-US"/>
          </a:p>
        </p:txBody>
      </p:sp>
      <p:sp>
        <p:nvSpPr>
          <p:cNvPr id="6" name="Footer Placeholder 5">
            <a:extLst>
              <a:ext uri="{FF2B5EF4-FFF2-40B4-BE49-F238E27FC236}">
                <a16:creationId xmlns:a16="http://schemas.microsoft.com/office/drawing/2014/main" id="{8FE44890-068C-8382-7727-C8C22C7790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DC8ED4-B810-03F0-4C71-7C9FCE79E997}"/>
              </a:ext>
            </a:extLst>
          </p:cNvPr>
          <p:cNvSpPr>
            <a:spLocks noGrp="1"/>
          </p:cNvSpPr>
          <p:nvPr>
            <p:ph type="sldNum" sz="quarter" idx="12"/>
          </p:nvPr>
        </p:nvSpPr>
        <p:spPr/>
        <p:txBody>
          <a:bodyPr/>
          <a:lstStyle/>
          <a:p>
            <a:fld id="{AC9A10C9-6EBF-4BF6-B927-1E0AA83ECD90}" type="slidenum">
              <a:rPr lang="en-US" smtClean="0"/>
              <a:t>‹#›</a:t>
            </a:fld>
            <a:endParaRPr lang="en-US"/>
          </a:p>
        </p:txBody>
      </p:sp>
    </p:spTree>
    <p:extLst>
      <p:ext uri="{BB962C8B-B14F-4D97-AF65-F5344CB8AC3E}">
        <p14:creationId xmlns:p14="http://schemas.microsoft.com/office/powerpoint/2010/main" val="3013859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79D90-8144-8E8E-A070-81561E793C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B1A290-5398-B1B4-3095-C7F4BAF89F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E0FF0C-8D7B-11C5-FB6E-E9D3C272604E}"/>
              </a:ext>
            </a:extLst>
          </p:cNvPr>
          <p:cNvSpPr>
            <a:spLocks noGrp="1"/>
          </p:cNvSpPr>
          <p:nvPr>
            <p:ph type="dt" sz="half" idx="10"/>
          </p:nvPr>
        </p:nvSpPr>
        <p:spPr/>
        <p:txBody>
          <a:bodyPr/>
          <a:lstStyle/>
          <a:p>
            <a:fld id="{6DE746BC-6457-4FBE-A124-C0B18F7EEE09}" type="datetimeFigureOut">
              <a:rPr lang="en-US" smtClean="0"/>
              <a:t>6/14/2026</a:t>
            </a:fld>
            <a:endParaRPr lang="en-US"/>
          </a:p>
        </p:txBody>
      </p:sp>
      <p:sp>
        <p:nvSpPr>
          <p:cNvPr id="5" name="Footer Placeholder 4">
            <a:extLst>
              <a:ext uri="{FF2B5EF4-FFF2-40B4-BE49-F238E27FC236}">
                <a16:creationId xmlns:a16="http://schemas.microsoft.com/office/drawing/2014/main" id="{45BE67C3-7D7E-16F8-BCFF-587E1CF879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630C58-CEAF-DD85-4595-4F70F4D3DC5A}"/>
              </a:ext>
            </a:extLst>
          </p:cNvPr>
          <p:cNvSpPr>
            <a:spLocks noGrp="1"/>
          </p:cNvSpPr>
          <p:nvPr>
            <p:ph type="sldNum" sz="quarter" idx="12"/>
          </p:nvPr>
        </p:nvSpPr>
        <p:spPr/>
        <p:txBody>
          <a:bodyPr/>
          <a:lstStyle/>
          <a:p>
            <a:fld id="{AC9A10C9-6EBF-4BF6-B927-1E0AA83ECD90}" type="slidenum">
              <a:rPr lang="en-US" smtClean="0"/>
              <a:t>‹#›</a:t>
            </a:fld>
            <a:endParaRPr lang="en-US"/>
          </a:p>
        </p:txBody>
      </p:sp>
    </p:spTree>
    <p:extLst>
      <p:ext uri="{BB962C8B-B14F-4D97-AF65-F5344CB8AC3E}">
        <p14:creationId xmlns:p14="http://schemas.microsoft.com/office/powerpoint/2010/main" val="2808015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BB7F2D-C067-373F-F99D-85D7F8D1FB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64C80A-7E93-4EF2-DE79-906529B233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1E8F6F-A115-965D-6C03-AC3A3B25404A}"/>
              </a:ext>
            </a:extLst>
          </p:cNvPr>
          <p:cNvSpPr>
            <a:spLocks noGrp="1"/>
          </p:cNvSpPr>
          <p:nvPr>
            <p:ph type="dt" sz="half" idx="10"/>
          </p:nvPr>
        </p:nvSpPr>
        <p:spPr/>
        <p:txBody>
          <a:bodyPr/>
          <a:lstStyle/>
          <a:p>
            <a:fld id="{6DE746BC-6457-4FBE-A124-C0B18F7EEE09}" type="datetimeFigureOut">
              <a:rPr lang="en-US" smtClean="0"/>
              <a:t>6/14/2026</a:t>
            </a:fld>
            <a:endParaRPr lang="en-US"/>
          </a:p>
        </p:txBody>
      </p:sp>
      <p:sp>
        <p:nvSpPr>
          <p:cNvPr id="5" name="Footer Placeholder 4">
            <a:extLst>
              <a:ext uri="{FF2B5EF4-FFF2-40B4-BE49-F238E27FC236}">
                <a16:creationId xmlns:a16="http://schemas.microsoft.com/office/drawing/2014/main" id="{56768ACE-C92A-C779-C4E4-FF45A3DF07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D08B9-178F-DA9C-26E7-F9EDF4FA9494}"/>
              </a:ext>
            </a:extLst>
          </p:cNvPr>
          <p:cNvSpPr>
            <a:spLocks noGrp="1"/>
          </p:cNvSpPr>
          <p:nvPr>
            <p:ph type="sldNum" sz="quarter" idx="12"/>
          </p:nvPr>
        </p:nvSpPr>
        <p:spPr/>
        <p:txBody>
          <a:bodyPr/>
          <a:lstStyle/>
          <a:p>
            <a:fld id="{AC9A10C9-6EBF-4BF6-B927-1E0AA83ECD90}" type="slidenum">
              <a:rPr lang="en-US" smtClean="0"/>
              <a:t>‹#›</a:t>
            </a:fld>
            <a:endParaRPr lang="en-US"/>
          </a:p>
        </p:txBody>
      </p:sp>
    </p:spTree>
    <p:extLst>
      <p:ext uri="{BB962C8B-B14F-4D97-AF65-F5344CB8AC3E}">
        <p14:creationId xmlns:p14="http://schemas.microsoft.com/office/powerpoint/2010/main" val="653483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3F32F4-0FA2-E355-5E5A-CCD0695384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610C98-C436-1F8A-7B99-2B7F3575FC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2260CC-204D-18F2-7A8E-EA64F9983A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E746BC-6457-4FBE-A124-C0B18F7EEE09}" type="datetimeFigureOut">
              <a:rPr lang="en-US" smtClean="0"/>
              <a:t>6/14/2026</a:t>
            </a:fld>
            <a:endParaRPr lang="en-US"/>
          </a:p>
        </p:txBody>
      </p:sp>
      <p:sp>
        <p:nvSpPr>
          <p:cNvPr id="5" name="Footer Placeholder 4">
            <a:extLst>
              <a:ext uri="{FF2B5EF4-FFF2-40B4-BE49-F238E27FC236}">
                <a16:creationId xmlns:a16="http://schemas.microsoft.com/office/drawing/2014/main" id="{E7710E64-5E4E-55A6-8ED3-E18C1C6928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995767-3CC1-9919-9A90-F6606E55E8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9A10C9-6EBF-4BF6-B927-1E0AA83ECD90}" type="slidenum">
              <a:rPr lang="en-US" smtClean="0"/>
              <a:t>‹#›</a:t>
            </a:fld>
            <a:endParaRPr lang="en-US"/>
          </a:p>
        </p:txBody>
      </p:sp>
    </p:spTree>
    <p:extLst>
      <p:ext uri="{BB962C8B-B14F-4D97-AF65-F5344CB8AC3E}">
        <p14:creationId xmlns:p14="http://schemas.microsoft.com/office/powerpoint/2010/main" val="2412823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ebp"/><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fa.exirpolymer.com/granules/pp-granules/" TargetMode="External"/><Relationship Id="rId7" Type="http://schemas.openxmlformats.org/officeDocument/2006/relationships/image" Target="../media/image6.gi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hyperlink" Target="https://fa.exirpolymer.com/granules/recycled-hdpe-granules/" TargetMode="External"/><Relationship Id="rId5" Type="http://schemas.openxmlformats.org/officeDocument/2006/relationships/hyperlink" Target="https://fa.exirpolymer.com/granules/ps-granules/" TargetMode="External"/><Relationship Id="rId4" Type="http://schemas.openxmlformats.org/officeDocument/2006/relationships/hyperlink" Target="https://fa.exirpolymer.com/granules/abs-granule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hyperlink" Target="https://fa.exirpolymer.com/what-is-plastic-granule/" TargetMode="External"/><Relationship Id="rId2" Type="http://schemas.openxmlformats.org/officeDocument/2006/relationships/image" Target="../media/image3.jp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fif"/><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fi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jp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6000" b="-6000"/>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381836-2365-5E06-C296-A8C1D9E68CD9}"/>
              </a:ext>
            </a:extLst>
          </p:cNvPr>
          <p:cNvPicPr>
            <a:picLocks noChangeAspect="1"/>
          </p:cNvPicPr>
          <p:nvPr/>
        </p:nvPicPr>
        <p:blipFill>
          <a:blip r:embed="rId3"/>
          <a:stretch>
            <a:fillRect/>
          </a:stretch>
        </p:blipFill>
        <p:spPr>
          <a:xfrm>
            <a:off x="5287166" y="2241593"/>
            <a:ext cx="1617667" cy="163952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TextBox 2">
            <a:extLst>
              <a:ext uri="{FF2B5EF4-FFF2-40B4-BE49-F238E27FC236}">
                <a16:creationId xmlns:a16="http://schemas.microsoft.com/office/drawing/2014/main" id="{82A6894D-DC95-F774-378B-3C8AB98C0EDE}"/>
              </a:ext>
            </a:extLst>
          </p:cNvPr>
          <p:cNvSpPr txBox="1"/>
          <p:nvPr/>
        </p:nvSpPr>
        <p:spPr>
          <a:xfrm>
            <a:off x="4889128" y="4147267"/>
            <a:ext cx="2413727" cy="1200329"/>
          </a:xfrm>
          <a:prstGeom prst="rect">
            <a:avLst/>
          </a:prstGeom>
          <a:noFill/>
        </p:spPr>
        <p:txBody>
          <a:bodyPr wrap="square" rtlCol="0">
            <a:spAutoFit/>
          </a:bodyPr>
          <a:lstStyle/>
          <a:p>
            <a:pPr algn="ctr"/>
            <a:r>
              <a:rPr lang="fa-IR" b="1" dirty="0">
                <a:cs typeface="B Mitra" panose="00000400000000000000" pitchFamily="2" charset="-78"/>
              </a:rPr>
              <a:t>ارائه دهندگان :</a:t>
            </a:r>
          </a:p>
          <a:p>
            <a:pPr algn="ctr"/>
            <a:r>
              <a:rPr lang="fa-IR" b="1" dirty="0">
                <a:cs typeface="B Mitra" panose="00000400000000000000" pitchFamily="2" charset="-78"/>
              </a:rPr>
              <a:t>دیانا سهرابی</a:t>
            </a:r>
          </a:p>
          <a:p>
            <a:pPr algn="ctr"/>
            <a:r>
              <a:rPr lang="fa-IR" b="1" dirty="0">
                <a:cs typeface="B Mitra" panose="00000400000000000000" pitchFamily="2" charset="-78"/>
              </a:rPr>
              <a:t>ساینا سلیمانی</a:t>
            </a:r>
          </a:p>
          <a:p>
            <a:pPr algn="ctr"/>
            <a:r>
              <a:rPr lang="fa-IR" b="1" dirty="0">
                <a:cs typeface="B Mitra" panose="00000400000000000000" pitchFamily="2" charset="-78"/>
              </a:rPr>
              <a:t>مانیا طاهری</a:t>
            </a:r>
          </a:p>
        </p:txBody>
      </p:sp>
      <p:sp>
        <p:nvSpPr>
          <p:cNvPr id="6" name="TextBox 5">
            <a:extLst>
              <a:ext uri="{FF2B5EF4-FFF2-40B4-BE49-F238E27FC236}">
                <a16:creationId xmlns:a16="http://schemas.microsoft.com/office/drawing/2014/main" id="{0DFAB9E7-F495-E1F4-A05E-E4432522B052}"/>
              </a:ext>
            </a:extLst>
          </p:cNvPr>
          <p:cNvSpPr txBox="1"/>
          <p:nvPr/>
        </p:nvSpPr>
        <p:spPr>
          <a:xfrm>
            <a:off x="4216391" y="1416022"/>
            <a:ext cx="375920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2400" b="1" i="0" u="none" strike="noStrike" kern="1200" cap="none" spc="0" normalizeH="0" baseline="0" noProof="0" dirty="0">
                <a:ln>
                  <a:noFill/>
                </a:ln>
                <a:solidFill>
                  <a:prstClr val="black"/>
                </a:solidFill>
                <a:effectLst/>
                <a:uLnTx/>
                <a:uFillTx/>
                <a:latin typeface="Calibri" panose="020F0502020204030204"/>
                <a:cs typeface="B Titr" panose="00000700000000000000" pitchFamily="2" charset="-78"/>
              </a:rPr>
              <a:t>قالب‌گیری تزریقی </a:t>
            </a:r>
          </a:p>
        </p:txBody>
      </p:sp>
    </p:spTree>
    <p:extLst>
      <p:ext uri="{BB962C8B-B14F-4D97-AF65-F5344CB8AC3E}">
        <p14:creationId xmlns:p14="http://schemas.microsoft.com/office/powerpoint/2010/main" val="2003132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1000"/>
            <a:lum/>
          </a:blip>
          <a:srcRect/>
          <a:stretch>
            <a:fillRect t="-9000" b="-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C9EC5E-0B88-BF6F-9E52-B4DA3C3EC306}"/>
              </a:ext>
            </a:extLst>
          </p:cNvPr>
          <p:cNvSpPr txBox="1"/>
          <p:nvPr/>
        </p:nvSpPr>
        <p:spPr>
          <a:xfrm>
            <a:off x="4542157" y="546954"/>
            <a:ext cx="7061199" cy="3004156"/>
          </a:xfrm>
          <a:prstGeom prst="rect">
            <a:avLst/>
          </a:prstGeom>
          <a:noFill/>
        </p:spPr>
        <p:txBody>
          <a:bodyPr wrap="square">
            <a:spAutoFit/>
          </a:bodyPr>
          <a:lstStyle/>
          <a:p>
            <a:pPr algn="r" rtl="1">
              <a:lnSpc>
                <a:spcPct val="115000"/>
              </a:lnSpc>
              <a:spcAft>
                <a:spcPts val="800"/>
              </a:spcAft>
              <a:buNone/>
            </a:pPr>
            <a:r>
              <a:rPr lang="fa-IR" sz="2800" kern="100" dirty="0">
                <a:solidFill>
                  <a:srgbClr val="0070C0"/>
                </a:solidFill>
                <a:effectLst/>
                <a:latin typeface="Calibri" panose="020F0502020204030204" pitchFamily="34" charset="0"/>
                <a:ea typeface="Calibri" panose="020F0502020204030204" pitchFamily="34" charset="0"/>
                <a:cs typeface="B Titr" panose="00000700000000000000" pitchFamily="2" charset="-78"/>
              </a:rPr>
              <a:t>قالب‌گیری تزریقی </a:t>
            </a:r>
            <a:r>
              <a:rPr lang="fa-IR" sz="2800"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a:t>
            </a:r>
            <a:r>
              <a:rPr lang="en-US" sz="2800" kern="1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Injection </a:t>
            </a:r>
            <a:r>
              <a:rPr lang="en-US" sz="2800" kern="100" dirty="0" err="1">
                <a:solidFill>
                  <a:srgbClr val="0070C0"/>
                </a:solidFill>
                <a:effectLst/>
                <a:latin typeface="Times New Roman" panose="02020603050405020304" pitchFamily="18" charset="0"/>
                <a:ea typeface="Calibri" panose="020F0502020204030204" pitchFamily="34" charset="0"/>
                <a:cs typeface="Arial" panose="020B0604020202020204" pitchFamily="34" charset="0"/>
              </a:rPr>
              <a:t>Moulding</a:t>
            </a:r>
            <a:r>
              <a:rPr lang="fa-IR" sz="2800"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 </a:t>
            </a:r>
            <a:r>
              <a:rPr lang="fa-IR" sz="2800" kern="100" dirty="0">
                <a:solidFill>
                  <a:srgbClr val="0070C0"/>
                </a:solidFill>
                <a:effectLst/>
                <a:latin typeface="Times New Roman" panose="02020603050405020304" pitchFamily="18" charset="0"/>
                <a:ea typeface="Calibri" panose="020F0502020204030204" pitchFamily="34" charset="0"/>
                <a:cs typeface="B Titr" panose="00000700000000000000" pitchFamily="2" charset="-78"/>
              </a:rPr>
              <a:t>چیست؟</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قالب‌گیری تزریقی فرآیندی است که در آن مواد مذاب پلاستیکی تحت فشار بالا به درون یک قالب بسته تزریق شده، سرد شده و به شکل نهایی محصول در می‌آی</a:t>
            </a:r>
            <a:r>
              <a:rPr lang="fa-IR" sz="1800" kern="100" dirty="0">
                <a:effectLst/>
                <a:latin typeface="Calibri" panose="020F0502020204030204" pitchFamily="34" charset="0"/>
                <a:ea typeface="Calibri" panose="020F0502020204030204" pitchFamily="34" charset="0"/>
                <a:cs typeface="B Mitra" panose="00000400000000000000" pitchFamily="2" charset="-78"/>
              </a:rPr>
              <a:t>ند. این روش یکی از رایج‌ترین روش‌ها برای تولید انبوه قطعات پلاستیکی با دقت و ثبات بالا است. بخش بزرگی از قطعات پلاستیکی در زندگی روزمره، توسط قالب‌گیری تزریقی تولید می‌شوند. </a:t>
            </a:r>
            <a:r>
              <a:rPr lang="ar-SA" sz="1800" kern="100" dirty="0">
                <a:effectLst/>
                <a:latin typeface="Calibri" panose="020F0502020204030204" pitchFamily="34" charset="0"/>
                <a:ea typeface="Calibri" panose="020F0502020204030204" pitchFamily="34" charset="0"/>
                <a:cs typeface="B Mitra" panose="00000400000000000000" pitchFamily="2" charset="-78"/>
              </a:rPr>
              <a:t>از قطعات خودرو گرفته تا لوازم خانگی و اسباب‌بازی‌ها</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r>
              <a:rPr lang="ar-SA" sz="1800" kern="100" dirty="0">
                <a:effectLst/>
                <a:latin typeface="Calibri" panose="020F0502020204030204" pitchFamily="34" charset="0"/>
                <a:ea typeface="Calibri" panose="020F0502020204030204" pitchFamily="34" charset="0"/>
                <a:cs typeface="B Mitra" panose="00000400000000000000" pitchFamily="2" charset="-78"/>
              </a:rPr>
              <a:t> این روش نه تنها به دلیل سرعت و دقت بالای خود شناخته شده، بلکه به دلیل توانایی‌اش در تولید قطعات با کیفیت و تکرارپذیری مطلوب آن هم با هزینه واحد پایین، جایگاه ویژه‌ای در</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صنعت پلاستیک</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پیدا کرده است.</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endParaRPr lang="en-US" b="1" kern="100" dirty="0">
              <a:effectLst/>
              <a:latin typeface="Calibri" panose="020F0502020204030204" pitchFamily="34" charset="0"/>
              <a:ea typeface="Calibri" panose="020F0502020204030204" pitchFamily="34" charset="0"/>
              <a:cs typeface="B Mitra" panose="00000400000000000000" pitchFamily="2" charset="-78"/>
            </a:endParaRPr>
          </a:p>
        </p:txBody>
      </p:sp>
      <p:pic>
        <p:nvPicPr>
          <p:cNvPr id="2" name="Picture 1">
            <a:extLst>
              <a:ext uri="{FF2B5EF4-FFF2-40B4-BE49-F238E27FC236}">
                <a16:creationId xmlns:a16="http://schemas.microsoft.com/office/drawing/2014/main" id="{8D0D698B-5F35-11BE-4702-AB0E46F2D364}"/>
              </a:ext>
            </a:extLst>
          </p:cNvPr>
          <p:cNvPicPr>
            <a:picLocks noChangeAspect="1"/>
          </p:cNvPicPr>
          <p:nvPr/>
        </p:nvPicPr>
        <p:blipFill>
          <a:blip r:embed="rId3"/>
          <a:stretch>
            <a:fillRect/>
          </a:stretch>
        </p:blipFill>
        <p:spPr>
          <a:xfrm>
            <a:off x="955040" y="807719"/>
            <a:ext cx="3038475" cy="3038475"/>
          </a:xfrm>
          <a:prstGeom prst="rect">
            <a:avLst/>
          </a:prstGeom>
        </p:spPr>
      </p:pic>
      <p:sp>
        <p:nvSpPr>
          <p:cNvPr id="6" name="TextBox 5">
            <a:extLst>
              <a:ext uri="{FF2B5EF4-FFF2-40B4-BE49-F238E27FC236}">
                <a16:creationId xmlns:a16="http://schemas.microsoft.com/office/drawing/2014/main" id="{3E45CDF4-D4DB-1156-FDF5-EAD0959B324E}"/>
              </a:ext>
            </a:extLst>
          </p:cNvPr>
          <p:cNvSpPr txBox="1"/>
          <p:nvPr/>
        </p:nvSpPr>
        <p:spPr>
          <a:xfrm>
            <a:off x="2474278" y="3653345"/>
            <a:ext cx="9129078" cy="2488374"/>
          </a:xfrm>
          <a:prstGeom prst="rect">
            <a:avLst/>
          </a:prstGeom>
          <a:noFill/>
        </p:spPr>
        <p:txBody>
          <a:bodyPr wrap="square">
            <a:spAutoFit/>
          </a:bodyPr>
          <a:lstStyle/>
          <a:p>
            <a:pPr algn="just" rtl="1">
              <a:lnSpc>
                <a:spcPct val="115000"/>
              </a:lnSpc>
              <a:spcAft>
                <a:spcPts val="800"/>
              </a:spcAft>
              <a:buNone/>
            </a:pPr>
            <a:r>
              <a:rPr lang="ar-SA" sz="2400" kern="100" dirty="0">
                <a:solidFill>
                  <a:srgbClr val="0070C0"/>
                </a:solidFill>
                <a:effectLst/>
                <a:latin typeface="Calibri" panose="020F0502020204030204" pitchFamily="34" charset="0"/>
                <a:ea typeface="Calibri" panose="020F0502020204030204" pitchFamily="34" charset="0"/>
                <a:cs typeface="B Titr" panose="00000700000000000000" pitchFamily="2" charset="-78"/>
              </a:rPr>
              <a:t>تاریخچه‌ی قالب‌گیری تزریقی</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تولد با توپ بیلیارد (1872)!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همه چیز از جایی شروع شد که یک شرکت برای جایگزینی عاج فیل در ساخت توپ‌های بیلیارد، جایزه گذاشت</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B Mitra" panose="00000400000000000000" pitchFamily="2" charset="-78"/>
                <a:ea typeface="Calibri" panose="020F0502020204030204" pitchFamily="34" charset="0"/>
                <a:cs typeface="Arial" panose="020B0604020202020204" pitchFamily="34" charset="0"/>
              </a:rPr>
              <a: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b="1" kern="100" dirty="0">
                <a:effectLst/>
                <a:latin typeface="Calibri" panose="020F0502020204030204" pitchFamily="34" charset="0"/>
                <a:ea typeface="Calibri" panose="020F0502020204030204" pitchFamily="34" charset="0"/>
                <a:cs typeface="B Mitra" panose="00000400000000000000" pitchFamily="2" charset="-78"/>
              </a:rPr>
              <a:t>جان وسلی هایت</a:t>
            </a:r>
            <a:r>
              <a:rPr lang="en-US" sz="1800" b="1" kern="100" dirty="0">
                <a:effectLst/>
                <a:latin typeface="Times New Roman" panose="02020603050405020304" pitchFamily="18" charset="0"/>
                <a:ea typeface="Calibri" panose="020F0502020204030204" pitchFamily="34" charset="0"/>
                <a:cs typeface="Arial" panose="020B0604020202020204" pitchFamily="34" charset="0"/>
              </a:rPr>
              <a:t>(John Wesley Hyatt)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fa-IR" sz="1800" kern="100" dirty="0">
                <a:effectLst/>
                <a:latin typeface="Calibri" panose="020F0502020204030204" pitchFamily="34" charset="0"/>
                <a:ea typeface="Calibri" panose="020F0502020204030204" pitchFamily="34" charset="0"/>
                <a:cs typeface="B Mitra" panose="00000400000000000000" pitchFamily="2" charset="-78"/>
              </a:rPr>
              <a:t>  ب</a:t>
            </a:r>
            <a:r>
              <a:rPr lang="ar-SA" sz="1800" kern="100" dirty="0">
                <a:effectLst/>
                <a:latin typeface="Calibri" panose="020F0502020204030204" pitchFamily="34" charset="0"/>
                <a:ea typeface="Calibri" panose="020F0502020204030204" pitchFamily="34" charset="0"/>
                <a:cs typeface="B Mitra" panose="00000400000000000000" pitchFamily="2" charset="-78"/>
              </a:rPr>
              <a:t>رای حل این مشکل، اولین دستگاه تزریق پلاستیک را اختراع کرد. این دستگاه بسیار ابتدایی بود و با یک اهرم دستی، پلاستیکِ سلولوئید را داخل قالب تزریق می‌کرد. از آن زمان تاکنون، این تکنولوژی با پیشرفت‌های چشمگیر در مواد، ماشین‌آلات و طراحی قالب، به یکی از قدرتمندترین ابزارهای تولید انبوه تبدیل شده است</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08807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1000"/>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E72BF9C-C016-88D2-4FB9-9862B93A8002}"/>
              </a:ext>
            </a:extLst>
          </p:cNvPr>
          <p:cNvSpPr txBox="1"/>
          <p:nvPr/>
        </p:nvSpPr>
        <p:spPr>
          <a:xfrm>
            <a:off x="1671320" y="660732"/>
            <a:ext cx="9017000" cy="3483005"/>
          </a:xfrm>
          <a:prstGeom prst="rect">
            <a:avLst/>
          </a:prstGeom>
          <a:noFill/>
        </p:spPr>
        <p:txBody>
          <a:bodyPr wrap="square">
            <a:spAutoFit/>
          </a:bodyPr>
          <a:lstStyle/>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در این فرآیند، مواد اولیه که معمولاً به شکل</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u="sng" kern="100" dirty="0">
                <a:solidFill>
                  <a:srgbClr val="0563C1"/>
                </a:solidFill>
                <a:effectLst/>
                <a:latin typeface="Calibri" panose="020F0502020204030204" pitchFamily="34" charset="0"/>
                <a:ea typeface="Calibri" panose="020F0502020204030204" pitchFamily="34" charset="0"/>
                <a:cs typeface="B Mitra" panose="00000400000000000000" pitchFamily="2" charset="-78"/>
                <a:hlinkClick r:id="rId3"/>
              </a:rPr>
              <a:t>گرانول پلی پروپیلن</a:t>
            </a:r>
            <a:r>
              <a:rPr lang="ar-SA" sz="1800"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u="sng" kern="100" dirty="0">
                <a:solidFill>
                  <a:srgbClr val="0563C1"/>
                </a:solidFill>
                <a:effectLst/>
                <a:latin typeface="Calibri" panose="020F0502020204030204" pitchFamily="34" charset="0"/>
                <a:ea typeface="Calibri" panose="020F0502020204030204" pitchFamily="34" charset="0"/>
                <a:cs typeface="B Mitra" panose="00000400000000000000" pitchFamily="2" charset="-78"/>
                <a:hlinkClick r:id="rId4"/>
              </a:rPr>
              <a:t>گرانول</a:t>
            </a:r>
            <a:r>
              <a:rPr lang="en-US" sz="1800" b="1" u="sng" kern="100" dirty="0">
                <a:solidFill>
                  <a:srgbClr val="0563C1"/>
                </a:solidFill>
                <a:effectLst/>
                <a:latin typeface="Calibri" panose="020F0502020204030204" pitchFamily="34" charset="0"/>
                <a:ea typeface="Calibri" panose="020F0502020204030204" pitchFamily="34" charset="0"/>
                <a:cs typeface="B Mitra" panose="00000400000000000000" pitchFamily="2" charset="-78"/>
                <a:hlinkClick r:id="rId4"/>
              </a:rPr>
              <a:t> ABS</a:t>
            </a:r>
            <a:r>
              <a:rPr lang="ar-SA" sz="1800"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u="sng" kern="100" dirty="0">
                <a:solidFill>
                  <a:srgbClr val="0563C1"/>
                </a:solidFill>
                <a:effectLst/>
                <a:latin typeface="Calibri" panose="020F0502020204030204" pitchFamily="34" charset="0"/>
                <a:ea typeface="Calibri" panose="020F0502020204030204" pitchFamily="34" charset="0"/>
                <a:cs typeface="B Mitra" panose="00000400000000000000" pitchFamily="2" charset="-78"/>
                <a:hlinkClick r:id="rId5"/>
              </a:rPr>
              <a:t>گرانول پلی استایرن</a:t>
            </a:r>
            <a:r>
              <a:rPr lang="ar-SA"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u="sng" kern="100" dirty="0">
                <a:solidFill>
                  <a:srgbClr val="0563C1"/>
                </a:solidFill>
                <a:effectLst/>
                <a:latin typeface="Calibri" panose="020F0502020204030204" pitchFamily="34" charset="0"/>
                <a:ea typeface="Calibri" panose="020F0502020204030204" pitchFamily="34" charset="0"/>
                <a:cs typeface="B Mitra" panose="00000400000000000000" pitchFamily="2" charset="-78"/>
                <a:hlinkClick r:id="rId6"/>
              </a:rPr>
              <a:t>گرانول </a:t>
            </a:r>
            <a:r>
              <a:rPr lang="en-US" sz="1800" b="1" u="sng" kern="100" dirty="0">
                <a:solidFill>
                  <a:srgbClr val="0563C1"/>
                </a:solidFill>
                <a:effectLst/>
                <a:latin typeface="Calibri" panose="020F0502020204030204" pitchFamily="34" charset="0"/>
                <a:ea typeface="Calibri" panose="020F0502020204030204" pitchFamily="34" charset="0"/>
                <a:cs typeface="B Mitra" panose="00000400000000000000" pitchFamily="2" charset="-78"/>
                <a:hlinkClick r:id="rId6"/>
              </a:rPr>
              <a:t> HDPE</a:t>
            </a:r>
            <a:r>
              <a:rPr lang="en-US" sz="1800" kern="100" dirty="0">
                <a:effectLst/>
                <a:latin typeface="B Mitra" panose="00000400000000000000" pitchFamily="2" charset="-78"/>
                <a:ea typeface="Calibri" panose="020F0502020204030204" pitchFamily="34" charset="0"/>
                <a:cs typeface="Arial" panose="020B0604020202020204" pitchFamily="34" charset="0"/>
              </a:rPr>
              <a:t> </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یا سایر پلیمرهای ترموپلاستیک هستند، در داخل یک واحد حرارتی ذوب شده و به حالت مذاب در می‌آیند. سپس، این مواد مذاب با فشار بسیار بالا از طریق یک نازل به داخل حفره یک قالب بسته تزریق می‌شوند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پس از پر شدن کامل حفره قالب، ماده مذاب در اثر تماس با دیواره‌های سرد قالب شروع به سرد شدن و جامد شدن می‌کند و شکل هندسی حفره قالب را به خود می‌گیرد. زمانی که قطعه به اندازه کافی سفت شد، قالب باز شده و قطعه نهایی به بیرون پرتاب می‌شود تا سیکل بعدی آغاز شود. این فرآیند برخلاف روش‌های سنتی‌تر مانند ریخته‌گری، که مذاب تحت نیروی وزن خود وارد قالب می‌شود، امکان تولید قطعاتی با دقت ابعادی بسیار بالا، سطحی صاف و عاری از هرگونه </a:t>
            </a:r>
            <a:r>
              <a:rPr lang="fa-IR" sz="1800" kern="100" dirty="0">
                <a:effectLst/>
                <a:latin typeface="Calibri" panose="020F0502020204030204" pitchFamily="34" charset="0"/>
                <a:ea typeface="Calibri" panose="020F0502020204030204" pitchFamily="34" charset="0"/>
                <a:cs typeface="B Mitra" panose="00000400000000000000" pitchFamily="2" charset="-78"/>
              </a:rPr>
              <a:t>ل</a:t>
            </a:r>
            <a:r>
              <a:rPr lang="ar-SA" sz="1800" kern="100" dirty="0">
                <a:effectLst/>
                <a:latin typeface="Calibri" panose="020F0502020204030204" pitchFamily="34" charset="0"/>
                <a:ea typeface="Calibri" panose="020F0502020204030204" pitchFamily="34" charset="0"/>
                <a:cs typeface="B Mitra" panose="00000400000000000000" pitchFamily="2" charset="-78"/>
              </a:rPr>
              <a:t>ک یا حفره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(Pinhole) </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را فراهم می‌آورد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تفاوت کلیدی قالب‌گیری تزریقی با سایر روش‌های تولید پلاستیک، در دقت و تکرارپذیری آن است. در روش‌هایی مانند قالب‌گیری بادی (برای بطری‌ها) یا ترموفرمینگ (برای ورق‌ها)، امکان تولید قطعات با جزئیات ریز و پیچیدگی‌های هندسی بالا به اندازه</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تزریق پلاستیک</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وجود ندارد.</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3D3E8113-89C3-24CA-9C80-17707FB1D6D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61247" y="4283710"/>
            <a:ext cx="6843967" cy="1537970"/>
          </a:xfrm>
          <a:prstGeom prst="rect">
            <a:avLst/>
          </a:prstGeom>
        </p:spPr>
      </p:pic>
    </p:spTree>
    <p:extLst>
      <p:ext uri="{BB962C8B-B14F-4D97-AF65-F5344CB8AC3E}">
        <p14:creationId xmlns:p14="http://schemas.microsoft.com/office/powerpoint/2010/main" val="437769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1000"/>
            <a:lum/>
          </a:blip>
          <a:srcRect/>
          <a:stretch>
            <a:fillRect t="-9000" b="-9000"/>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803F41A-F2A8-D4C1-8EBA-FF51983F6487}"/>
              </a:ext>
            </a:extLst>
          </p:cNvPr>
          <p:cNvSpPr txBox="1"/>
          <p:nvPr/>
        </p:nvSpPr>
        <p:spPr>
          <a:xfrm>
            <a:off x="838200" y="447564"/>
            <a:ext cx="10515600" cy="2549416"/>
          </a:xfrm>
          <a:prstGeom prst="rect">
            <a:avLst/>
          </a:prstGeom>
          <a:noFill/>
        </p:spPr>
        <p:txBody>
          <a:bodyPr wrap="square">
            <a:spAutoFit/>
          </a:bodyPr>
          <a:lstStyle/>
          <a:p>
            <a:pPr algn="just" rtl="1">
              <a:lnSpc>
                <a:spcPct val="115000"/>
              </a:lnSpc>
              <a:spcAft>
                <a:spcPts val="800"/>
              </a:spcAft>
              <a:buNone/>
            </a:pPr>
            <a:r>
              <a:rPr lang="fa-IR" sz="2800" kern="100" dirty="0">
                <a:solidFill>
                  <a:srgbClr val="0070C0"/>
                </a:solidFill>
                <a:effectLst/>
                <a:latin typeface="Calibri" panose="020F0502020204030204" pitchFamily="34" charset="0"/>
                <a:ea typeface="Calibri" panose="020F0502020204030204" pitchFamily="34" charset="0"/>
                <a:cs typeface="B Titr" panose="00000700000000000000" pitchFamily="2" charset="-78"/>
              </a:rPr>
              <a:t>اجزای اصلی دستگاه قالب‌گیری تزریقی</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fa-IR" sz="1800" kern="100" dirty="0">
                <a:effectLst/>
                <a:latin typeface="Calibri" panose="020F0502020204030204" pitchFamily="34" charset="0"/>
                <a:ea typeface="Calibri" panose="020F0502020204030204" pitchFamily="34" charset="0"/>
                <a:cs typeface="B Mitra" panose="00000400000000000000" pitchFamily="2" charset="-78"/>
              </a:rPr>
              <a:t>یک دستگاه قالب گیری تزریقی از سه بخش اصلی تشکیل شده است: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fa-IR" sz="1800" kern="100" dirty="0">
                <a:effectLst/>
                <a:latin typeface="Calibri" panose="020F0502020204030204" pitchFamily="34" charset="0"/>
                <a:ea typeface="Calibri" panose="020F0502020204030204" pitchFamily="34" charset="0"/>
                <a:cs typeface="B Mitra" panose="00000400000000000000" pitchFamily="2" charset="-78"/>
              </a:rPr>
              <a:t>1- واحد تزریق </a:t>
            </a:r>
            <a:r>
              <a:rPr lang="fa-IR"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injection unit</a:t>
            </a:r>
            <a:r>
              <a:rPr lang="fa-IR"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fa-IR" sz="1800" kern="100" dirty="0">
                <a:effectLst/>
                <a:latin typeface="Times New Roman" panose="02020603050405020304" pitchFamily="18" charset="0"/>
                <a:ea typeface="Calibri" panose="020F0502020204030204" pitchFamily="34" charset="0"/>
                <a:cs typeface="B Mitra" panose="00000400000000000000" pitchFamily="2" charset="-78"/>
              </a:rPr>
              <a:t> یک قیف، پلاستیک را به یک قوچ تزریق یا پیستون پیچی و واحد گرمایشی تغذیه می‌کند. پس از جمع شدن مقدار مورد نیاز پلاستیک مذاب، فرآیند تزریق آغاز می‌شود.</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fa-IR" sz="1800" kern="100" dirty="0">
                <a:effectLst/>
                <a:latin typeface="Calibri" panose="020F0502020204030204" pitchFamily="34" charset="0"/>
                <a:ea typeface="Calibri" panose="020F0502020204030204" pitchFamily="34" charset="0"/>
                <a:cs typeface="Times New Roman" panose="02020603050405020304" pitchFamily="18" charset="0"/>
              </a:rPr>
              <a:t>2- </a:t>
            </a:r>
            <a:r>
              <a:rPr lang="fa-IR" sz="1800" kern="100" dirty="0">
                <a:effectLst/>
                <a:latin typeface="Times New Roman" panose="02020603050405020304" pitchFamily="18" charset="0"/>
                <a:ea typeface="Calibri" panose="020F0502020204030204" pitchFamily="34" charset="0"/>
                <a:cs typeface="B Mitra" panose="00000400000000000000" pitchFamily="2" charset="-78"/>
              </a:rPr>
              <a:t>قالب (</a:t>
            </a:r>
            <a:r>
              <a:rPr lang="en-US" sz="1800" kern="100" dirty="0">
                <a:effectLst/>
                <a:latin typeface="Times New Roman" panose="02020603050405020304" pitchFamily="18" charset="0"/>
                <a:ea typeface="Calibri" panose="020F0502020204030204" pitchFamily="34" charset="0"/>
                <a:cs typeface="B Mitra" panose="00000400000000000000" pitchFamily="2" charset="-78"/>
              </a:rPr>
              <a:t>mold</a:t>
            </a:r>
            <a:r>
              <a:rPr lang="fa-IR" sz="1800" kern="100" dirty="0">
                <a:effectLst/>
                <a:latin typeface="Times New Roman" panose="02020603050405020304" pitchFamily="18" charset="0"/>
                <a:ea typeface="Calibri" panose="020F0502020204030204" pitchFamily="34" charset="0"/>
                <a:cs typeface="B Mitra" panose="00000400000000000000" pitchFamily="2" charset="-78"/>
              </a:rPr>
              <a:t>): ماده (توسط گرما/برش) ذوب شده و با فشار بالا به قالب تزریق می‌شود. در آنجا، قطعات قالب‌گیری تزریقی شکل می‌گیرند.</a:t>
            </a:r>
          </a:p>
          <a:p>
            <a:pPr algn="r" rtl="1">
              <a:buNone/>
            </a:pPr>
            <a:r>
              <a:rPr lang="fa-IR" sz="1800" dirty="0">
                <a:effectLst/>
                <a:latin typeface="Calibri" panose="020F0502020204030204" pitchFamily="34" charset="0"/>
                <a:ea typeface="Calibri" panose="020F0502020204030204" pitchFamily="34" charset="0"/>
                <a:cs typeface="B Mitra" panose="00000400000000000000" pitchFamily="2" charset="-78"/>
              </a:rPr>
              <a:t>3- واحد گیره </a:t>
            </a:r>
            <a:r>
              <a:rPr lang="fa-IR" sz="1800" dirty="0">
                <a:effectLst/>
                <a:ea typeface="Calibri" panose="020F0502020204030204" pitchFamily="34" charset="0"/>
                <a:cs typeface="Times New Roman" panose="02020603050405020304" pitchFamily="18" charset="0"/>
              </a:rPr>
              <a:t>(</a:t>
            </a:r>
            <a:r>
              <a:rPr lang="en-US" dirty="0">
                <a:latin typeface="Times New Roman" panose="02020603050405020304" pitchFamily="18" charset="0"/>
                <a:ea typeface="Calibri" panose="020F0502020204030204" pitchFamily="34" charset="0"/>
              </a:rPr>
              <a:t>clamping or ejection unit</a:t>
            </a:r>
            <a:r>
              <a:rPr lang="fa-IR" sz="1800" dirty="0">
                <a:effectLst/>
                <a:latin typeface="Times New Roman" panose="02020603050405020304" pitchFamily="18" charset="0"/>
                <a:ea typeface="Calibri" panose="020F0502020204030204" pitchFamily="34" charset="0"/>
              </a:rPr>
              <a:t>): </a:t>
            </a:r>
            <a:r>
              <a:rPr lang="fa-IR" sz="1800" dirty="0">
                <a:effectLst/>
                <a:latin typeface="Times New Roman" panose="02020603050405020304" pitchFamily="18" charset="0"/>
                <a:ea typeface="Calibri" panose="020F0502020204030204" pitchFamily="34" charset="0"/>
                <a:cs typeface="B Mitra" panose="00000400000000000000" pitchFamily="2" charset="-78"/>
              </a:rPr>
              <a:t>وظیفه باز و بسته کردن قالب و بیرون انداختن محصولات قالب‌گیری شده را بر عهده دارد</a:t>
            </a:r>
            <a:r>
              <a:rPr lang="en-US" sz="1800" dirty="0">
                <a:effectLst/>
                <a:latin typeface="Times New Roman" panose="02020603050405020304" pitchFamily="18" charset="0"/>
                <a:ea typeface="Calibri" panose="020F0502020204030204" pitchFamily="34" charset="0"/>
                <a:cs typeface="B Mitra" panose="00000400000000000000" pitchFamily="2" charset="-78"/>
              </a:rPr>
              <a:t>.</a:t>
            </a:r>
            <a:endParaRPr lang="en-US" dirty="0"/>
          </a:p>
        </p:txBody>
      </p:sp>
      <p:pic>
        <p:nvPicPr>
          <p:cNvPr id="9" name="Picture 8">
            <a:extLst>
              <a:ext uri="{FF2B5EF4-FFF2-40B4-BE49-F238E27FC236}">
                <a16:creationId xmlns:a16="http://schemas.microsoft.com/office/drawing/2014/main" id="{E91AF6DA-C7C9-00C0-B8D8-CDE1CE477A8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3249738"/>
            <a:ext cx="5622809" cy="3160698"/>
          </a:xfrm>
          <a:prstGeom prst="rect">
            <a:avLst/>
          </a:prstGeom>
          <a:noFill/>
          <a:ln>
            <a:noFill/>
          </a:ln>
        </p:spPr>
      </p:pic>
      <p:pic>
        <p:nvPicPr>
          <p:cNvPr id="11" name="Picture 10">
            <a:extLst>
              <a:ext uri="{FF2B5EF4-FFF2-40B4-BE49-F238E27FC236}">
                <a16:creationId xmlns:a16="http://schemas.microsoft.com/office/drawing/2014/main" id="{13597428-9BA3-BFDA-07EA-3F834D1C50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61008" y="3249738"/>
            <a:ext cx="5057117" cy="3160698"/>
          </a:xfrm>
          <a:prstGeom prst="rect">
            <a:avLst/>
          </a:prstGeom>
        </p:spPr>
      </p:pic>
    </p:spTree>
    <p:extLst>
      <p:ext uri="{BB962C8B-B14F-4D97-AF65-F5344CB8AC3E}">
        <p14:creationId xmlns:p14="http://schemas.microsoft.com/office/powerpoint/2010/main" val="3818614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1000"/>
            <a:lum/>
          </a:blip>
          <a:srcRect/>
          <a:stretch>
            <a:fillRect t="-9000" b="-9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98017A-0144-CC82-6C1E-845635B2970A}"/>
              </a:ext>
            </a:extLst>
          </p:cNvPr>
          <p:cNvSpPr txBox="1"/>
          <p:nvPr/>
        </p:nvSpPr>
        <p:spPr>
          <a:xfrm>
            <a:off x="5801360" y="632850"/>
            <a:ext cx="5770880" cy="5592300"/>
          </a:xfrm>
          <a:prstGeom prst="rect">
            <a:avLst/>
          </a:prstGeom>
          <a:noFill/>
        </p:spPr>
        <p:txBody>
          <a:bodyPr wrap="square">
            <a:spAutoFit/>
          </a:bodyPr>
          <a:lstStyle/>
          <a:p>
            <a:pPr algn="just" rtl="1">
              <a:lnSpc>
                <a:spcPct val="115000"/>
              </a:lnSpc>
              <a:spcAft>
                <a:spcPts val="800"/>
              </a:spcAft>
              <a:buNone/>
            </a:pPr>
            <a:r>
              <a:rPr lang="en-US" sz="2400" b="1" kern="100" dirty="0">
                <a:solidFill>
                  <a:srgbClr val="0070C0"/>
                </a:solidFill>
                <a:effectLst/>
                <a:latin typeface="Calibri" panose="020F0502020204030204" pitchFamily="34" charset="0"/>
                <a:ea typeface="Calibri" panose="020F0502020204030204" pitchFamily="34" charset="0"/>
                <a:cs typeface="B Mitra" panose="00000400000000000000" pitchFamily="2" charset="-78"/>
              </a:rPr>
              <a:t>1</a:t>
            </a:r>
            <a:r>
              <a:rPr lang="fa-IR" sz="2400" b="1" kern="100" dirty="0">
                <a:solidFill>
                  <a:srgbClr val="0070C0"/>
                </a:solidFill>
                <a:effectLst/>
                <a:latin typeface="Calibri" panose="020F0502020204030204" pitchFamily="34" charset="0"/>
                <a:ea typeface="Calibri" panose="020F0502020204030204" pitchFamily="34" charset="0"/>
                <a:cs typeface="B Mitra" panose="00000400000000000000" pitchFamily="2" charset="-78"/>
              </a:rPr>
              <a:t>- واحد تزریق </a:t>
            </a:r>
            <a:r>
              <a:rPr lang="fa-IR" sz="2400" b="1" kern="100" dirty="0">
                <a:solidFill>
                  <a:srgbClr val="0070C0"/>
                </a:solidFill>
                <a:effectLst/>
                <a:latin typeface="Times New Roman" panose="02020603050405020304" pitchFamily="18" charset="0"/>
                <a:ea typeface="Calibri" panose="020F0502020204030204" pitchFamily="34" charset="0"/>
                <a:cs typeface="B Mitra" panose="00000400000000000000" pitchFamily="2" charset="-78"/>
              </a:rPr>
              <a:t>(</a:t>
            </a:r>
            <a:r>
              <a:rPr lang="en-US" sz="2400" b="1" kern="100" dirty="0">
                <a:solidFill>
                  <a:srgbClr val="0070C0"/>
                </a:solidFill>
                <a:effectLst/>
                <a:latin typeface="Times New Roman" panose="02020603050405020304" pitchFamily="18" charset="0"/>
                <a:ea typeface="Calibri" panose="020F0502020204030204" pitchFamily="34" charset="0"/>
                <a:cs typeface="B Mitra" panose="00000400000000000000" pitchFamily="2" charset="-78"/>
              </a:rPr>
              <a:t>injection unit</a:t>
            </a:r>
            <a:r>
              <a:rPr lang="fa-IR" sz="2400" b="1" kern="100" dirty="0">
                <a:solidFill>
                  <a:srgbClr val="0070C0"/>
                </a:solidFill>
                <a:effectLst/>
                <a:latin typeface="Times New Roman" panose="02020603050405020304" pitchFamily="18"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وظیفه این واحد، دریافت گرانول‌ها، ذوب کردن، همگن‌سازی (مخلوط کردن یکنواخت) و سپس تزریق دقیق مواد مذاب با فشار بالا به داخل قالب است</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r>
              <a:rPr lang="ar-SA" sz="1800" kern="100" dirty="0">
                <a:effectLst/>
                <a:latin typeface="Calibri" panose="020F0502020204030204" pitchFamily="34" charset="0"/>
                <a:ea typeface="Calibri" panose="020F0502020204030204" pitchFamily="34" charset="0"/>
                <a:cs typeface="B Mitra" panose="00000400000000000000" pitchFamily="2" charset="-78"/>
              </a:rPr>
              <a:t> اجزای کلیدی واحد تزریق عبارتند از:</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kern="100" dirty="0">
                <a:effectLst/>
                <a:latin typeface="Calibri" panose="020F0502020204030204" pitchFamily="34" charset="0"/>
                <a:ea typeface="Calibri" panose="020F0502020204030204" pitchFamily="34" charset="0"/>
                <a:cs typeface="B Mitra" panose="00000400000000000000" pitchFamily="2" charset="-78"/>
              </a:rPr>
              <a:t>قیف</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(Hopper)</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محل ورود</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u="sng" kern="100" dirty="0">
                <a:solidFill>
                  <a:srgbClr val="0563C1"/>
                </a:solidFill>
                <a:effectLst/>
                <a:latin typeface="Calibri" panose="020F0502020204030204" pitchFamily="34" charset="0"/>
                <a:ea typeface="Calibri" panose="020F0502020204030204" pitchFamily="34" charset="0"/>
                <a:cs typeface="B Mitra" panose="00000400000000000000" pitchFamily="2" charset="-78"/>
                <a:hlinkClick r:id="rId3"/>
              </a:rPr>
              <a:t>گرانول</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یا پودر مواد اولیه</a:t>
            </a:r>
            <a:r>
              <a:rPr lang="fa-IR" sz="1800" kern="100" dirty="0">
                <a:effectLst/>
                <a:latin typeface="Calibri" panose="020F0502020204030204" pitchFamily="34" charset="0"/>
                <a:ea typeface="Calibri" panose="020F0502020204030204" pitchFamily="34" charset="0"/>
                <a:cs typeface="B Mitra" panose="00000400000000000000" pitchFamily="2" charset="-78"/>
              </a:rPr>
              <a:t> به داخل دستگاه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kern="100" dirty="0">
                <a:effectLst/>
                <a:latin typeface="Calibri" panose="020F0502020204030204" pitchFamily="34" charset="0"/>
                <a:ea typeface="Calibri" panose="020F0502020204030204" pitchFamily="34" charset="0"/>
                <a:cs typeface="B Mitra" panose="00000400000000000000" pitchFamily="2" charset="-78"/>
              </a:rPr>
              <a:t>سیلندر</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(Barrel) </a:t>
            </a:r>
            <a:r>
              <a:rPr lang="ar-SA" sz="1800" kern="100" dirty="0">
                <a:effectLst/>
                <a:latin typeface="Calibri" panose="020F0502020204030204" pitchFamily="34" charset="0"/>
                <a:ea typeface="Calibri" panose="020F0502020204030204" pitchFamily="34" charset="0"/>
                <a:cs typeface="B Mitra" panose="00000400000000000000" pitchFamily="2" charset="-78"/>
              </a:rPr>
              <a:t>محفظه استوانه‌ای روکش‌داری که مارپیچ درون آن قرار دارد و فرآیند ذوب و مخلوط شدن مواد در آن رخ می‌دهد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kern="100" dirty="0">
                <a:effectLst/>
                <a:latin typeface="Calibri" panose="020F0502020204030204" pitchFamily="34" charset="0"/>
                <a:ea typeface="Calibri" panose="020F0502020204030204" pitchFamily="34" charset="0"/>
                <a:cs typeface="B Mitra" panose="00000400000000000000" pitchFamily="2" charset="-78"/>
              </a:rPr>
              <a:t>مارپیچ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:(Screw)</a:t>
            </a:r>
            <a:r>
              <a:rPr lang="ar-SA" sz="1800" kern="100" dirty="0">
                <a:effectLst/>
                <a:latin typeface="Calibri" panose="020F0502020204030204" pitchFamily="34" charset="0"/>
                <a:ea typeface="Calibri" panose="020F0502020204030204" pitchFamily="34" charset="0"/>
                <a:cs typeface="B Mitra" panose="00000400000000000000" pitchFamily="2" charset="-78"/>
              </a:rPr>
              <a:t>کلیدی‌ترین جزء واحد تزریق که دو حرکت دارد؛ ابتدا می‌چرخد تا مواد را به جلو هدایت، ذوب و همگن کند، و سپس مانند پیستونِ سرنگ به جلو حرکت کرده و مذاب را به داخل قالب تزریق می‌کند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kern="100" dirty="0">
                <a:effectLst/>
                <a:latin typeface="Calibri" panose="020F0502020204030204" pitchFamily="34" charset="0"/>
                <a:ea typeface="Calibri" panose="020F0502020204030204" pitchFamily="34" charset="0"/>
                <a:cs typeface="B Mitra" panose="00000400000000000000" pitchFamily="2" charset="-78"/>
              </a:rPr>
              <a:t>هیترها</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(Heaters) </a:t>
            </a:r>
            <a:r>
              <a:rPr lang="ar-SA" sz="1800" kern="100" dirty="0">
                <a:effectLst/>
                <a:latin typeface="Calibri" panose="020F0502020204030204" pitchFamily="34" charset="0"/>
                <a:ea typeface="Calibri" panose="020F0502020204030204" pitchFamily="34" charset="0"/>
                <a:cs typeface="B Mitra" panose="00000400000000000000" pitchFamily="2" charset="-78"/>
              </a:rPr>
              <a:t>نوارهای حرارتی الکتریکی که دور سیلندر بسته شده‌اند و انرژی گرمایی لازم برای ذوب پلیمر را (در کنار گرمای حاصل از اصطکاک برش اسکرو) تأمین می‌کنند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kern="100" dirty="0">
                <a:effectLst/>
                <a:latin typeface="Calibri" panose="020F0502020204030204" pitchFamily="34" charset="0"/>
                <a:ea typeface="Calibri" panose="020F0502020204030204" pitchFamily="34" charset="0"/>
                <a:cs typeface="B Mitra" panose="00000400000000000000" pitchFamily="2" charset="-78"/>
              </a:rPr>
              <a:t>نازل</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(Nozzle) </a:t>
            </a:r>
            <a:r>
              <a:rPr lang="ar-SA" sz="1800" kern="100" dirty="0">
                <a:effectLst/>
                <a:latin typeface="Calibri" panose="020F0502020204030204" pitchFamily="34" charset="0"/>
                <a:ea typeface="Calibri" panose="020F0502020204030204" pitchFamily="34" charset="0"/>
                <a:cs typeface="B Mitra" panose="00000400000000000000" pitchFamily="2" charset="-78"/>
              </a:rPr>
              <a:t>نقطه‌ای که مواد مذاب از سیلندر خارج شده و وارد راهگاه قالب می‌شوند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D04154EB-16D3-EA6D-15A2-ADA02C60D98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9760" y="3530210"/>
            <a:ext cx="4781345" cy="2694940"/>
          </a:xfrm>
          <a:prstGeom prst="rect">
            <a:avLst/>
          </a:prstGeom>
          <a:noFill/>
        </p:spPr>
      </p:pic>
      <p:sp>
        <p:nvSpPr>
          <p:cNvPr id="7" name="AutoShape 2" descr="فرایند تزریق پلاستیک به صورت شماتیک (قالبگیری تزریقی)">
            <a:extLst>
              <a:ext uri="{FF2B5EF4-FFF2-40B4-BE49-F238E27FC236}">
                <a16:creationId xmlns:a16="http://schemas.microsoft.com/office/drawing/2014/main" id="{CB7842F9-0107-E1DD-AC2A-01FCDAE8C35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A331860B-6B2C-45A4-8664-D99EAC7614A2}"/>
              </a:ext>
            </a:extLst>
          </p:cNvPr>
          <p:cNvPicPr>
            <a:picLocks noChangeAspect="1"/>
          </p:cNvPicPr>
          <p:nvPr/>
        </p:nvPicPr>
        <p:blipFill>
          <a:blip r:embed="rId5"/>
          <a:stretch>
            <a:fillRect/>
          </a:stretch>
        </p:blipFill>
        <p:spPr>
          <a:xfrm>
            <a:off x="841907" y="889404"/>
            <a:ext cx="4337050" cy="2438386"/>
          </a:xfrm>
          <a:prstGeom prst="rect">
            <a:avLst/>
          </a:prstGeom>
        </p:spPr>
      </p:pic>
    </p:spTree>
    <p:extLst>
      <p:ext uri="{BB962C8B-B14F-4D97-AF65-F5344CB8AC3E}">
        <p14:creationId xmlns:p14="http://schemas.microsoft.com/office/powerpoint/2010/main" val="3247044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000"/>
            <a:lum/>
          </a:blip>
          <a:srcRect/>
          <a:stretch>
            <a:fillRect t="-8000" b="-8000"/>
          </a:stretch>
        </a:blipFill>
        <a:effectLst/>
      </p:bgPr>
    </p:bg>
    <p:spTree>
      <p:nvGrpSpPr>
        <p:cNvPr id="1" name="">
          <a:extLst>
            <a:ext uri="{FF2B5EF4-FFF2-40B4-BE49-F238E27FC236}">
              <a16:creationId xmlns:a16="http://schemas.microsoft.com/office/drawing/2014/main" id="{0DE3D3E8-F6AD-B8A4-EFD5-E41F625B0666}"/>
            </a:ext>
          </a:extLst>
        </p:cNvPr>
        <p:cNvGrpSpPr/>
        <p:nvPr/>
      </p:nvGrpSpPr>
      <p:grpSpPr>
        <a:xfrm>
          <a:off x="0" y="0"/>
          <a:ext cx="0" cy="0"/>
          <a:chOff x="0" y="0"/>
          <a:chExt cx="0" cy="0"/>
        </a:xfrm>
      </p:grpSpPr>
      <p:sp>
        <p:nvSpPr>
          <p:cNvPr id="13" name="AutoShape 6">
            <a:extLst>
              <a:ext uri="{FF2B5EF4-FFF2-40B4-BE49-F238E27FC236}">
                <a16:creationId xmlns:a16="http://schemas.microsoft.com/office/drawing/2014/main" id="{B3FB4948-EB1C-C18D-080C-816B84E5B63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D08B670F-DA7C-3E08-5A0D-653D93BF9BA8}"/>
              </a:ext>
            </a:extLst>
          </p:cNvPr>
          <p:cNvSpPr txBox="1"/>
          <p:nvPr/>
        </p:nvSpPr>
        <p:spPr>
          <a:xfrm>
            <a:off x="1010920" y="689532"/>
            <a:ext cx="10170160" cy="5478936"/>
          </a:xfrm>
          <a:prstGeom prst="rect">
            <a:avLst/>
          </a:prstGeom>
          <a:noFill/>
        </p:spPr>
        <p:txBody>
          <a:bodyPr wrap="square">
            <a:spAutoFit/>
          </a:bodyPr>
          <a:lstStyle/>
          <a:p>
            <a:pPr algn="just" rtl="1">
              <a:lnSpc>
                <a:spcPct val="115000"/>
              </a:lnSpc>
              <a:spcAft>
                <a:spcPts val="800"/>
              </a:spcAft>
              <a:buNone/>
            </a:pPr>
            <a:r>
              <a:rPr lang="en-US" sz="2400" b="1" kern="100" dirty="0">
                <a:solidFill>
                  <a:srgbClr val="0070C0"/>
                </a:solidFill>
                <a:effectLst/>
                <a:latin typeface="Times New Roman" panose="02020603050405020304" pitchFamily="18" charset="0"/>
                <a:ea typeface="Calibri" panose="020F0502020204030204" pitchFamily="34" charset="0"/>
                <a:cs typeface="B Mitra" panose="00000400000000000000" pitchFamily="2" charset="-78"/>
              </a:rPr>
              <a:t>2</a:t>
            </a:r>
            <a:r>
              <a:rPr lang="fa-IR" sz="2400" b="1" kern="100" dirty="0">
                <a:solidFill>
                  <a:srgbClr val="0070C0"/>
                </a:solidFill>
                <a:effectLst/>
                <a:latin typeface="Times New Roman" panose="02020603050405020304" pitchFamily="18" charset="0"/>
                <a:ea typeface="Calibri" panose="020F0502020204030204" pitchFamily="34" charset="0"/>
                <a:cs typeface="B Mitra" panose="00000400000000000000" pitchFamily="2" charset="-78"/>
              </a:rPr>
              <a:t>- قالب (</a:t>
            </a:r>
            <a:r>
              <a:rPr lang="en-US" sz="2400" b="1" kern="100" dirty="0">
                <a:solidFill>
                  <a:srgbClr val="0070C0"/>
                </a:solidFill>
                <a:effectLst/>
                <a:latin typeface="Times New Roman" panose="02020603050405020304" pitchFamily="18" charset="0"/>
                <a:ea typeface="Calibri" panose="020F0502020204030204" pitchFamily="34" charset="0"/>
                <a:cs typeface="B Mitra" panose="00000400000000000000" pitchFamily="2" charset="-78"/>
              </a:rPr>
              <a:t>mold</a:t>
            </a:r>
            <a:r>
              <a:rPr lang="fa-IR" sz="2400" b="1" kern="100" dirty="0">
                <a:solidFill>
                  <a:srgbClr val="0070C0"/>
                </a:solidFill>
                <a:effectLst/>
                <a:latin typeface="Times New Roman" panose="02020603050405020304" pitchFamily="18"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Nazanin" panose="00000400000000000000" pitchFamily="2" charset="-78"/>
              </a:rPr>
              <a:t>قالب در فرآیند</a:t>
            </a:r>
            <a:r>
              <a:rPr lang="en-US" sz="1800" kern="100" dirty="0">
                <a:effectLst/>
                <a:latin typeface="Calibri" panose="020F0502020204030204" pitchFamily="34" charset="0"/>
                <a:ea typeface="Calibri" panose="020F0502020204030204" pitchFamily="34" charset="0"/>
                <a:cs typeface="B Nazanin" panose="00000400000000000000" pitchFamily="2" charset="-78"/>
              </a:rPr>
              <a:t> </a:t>
            </a:r>
            <a:r>
              <a:rPr lang="ar-SA" sz="1800" kern="100" dirty="0">
                <a:effectLst/>
                <a:latin typeface="Calibri" panose="020F0502020204030204" pitchFamily="34" charset="0"/>
                <a:ea typeface="Calibri" panose="020F0502020204030204" pitchFamily="34" charset="0"/>
                <a:cs typeface="B Nazanin" panose="00000400000000000000" pitchFamily="2" charset="-78"/>
              </a:rPr>
              <a:t>تزریق پلاستیک، مهمترین و پرهزینه‌ترین بخش است</a:t>
            </a:r>
            <a:r>
              <a:rPr lang="fa-IR" sz="1800" kern="100" dirty="0">
                <a:effectLst/>
                <a:latin typeface="Times New Roman" panose="02020603050405020304" pitchFamily="18" charset="0"/>
                <a:ea typeface="Calibri" panose="020F0502020204030204" pitchFamily="34" charset="0"/>
                <a:cs typeface="B Mitra" panose="00000400000000000000" pitchFamily="2" charset="-78"/>
              </a:rPr>
              <a:t>. قالب یک بلوک فلزی توخالی است که پلاستیک مذاب برای ایجاد شکل مورد نظر به آن تزریق می‌شود و دارای سوراخ‌های زیادی برای کنترل دما و تهویه است. دما با استفاده از آب، روغن یا بخاری کنترل می‌شود. </a:t>
            </a:r>
            <a:r>
              <a:rPr lang="ar-SA" sz="1800" kern="100" dirty="0">
                <a:effectLst/>
                <a:latin typeface="Calibri" panose="020F0502020204030204" pitchFamily="34" charset="0"/>
                <a:ea typeface="Calibri" panose="020F0502020204030204" pitchFamily="34" charset="0"/>
                <a:cs typeface="B Mitra" panose="00000400000000000000" pitchFamily="2" charset="-78"/>
              </a:rPr>
              <a:t>کیفیت، دقت، و هزینه نهایی محصول به شدت به طراحی و ساخت قالب وابسته است. یک قالب با طراحی نامناسب می‌تواند منجر به عیوب متعدد، اتلاف مواد، و افزایش زمان سیکل شود، در حالی که یک قالب بهینه، تولیدی روان و اقتصادی را تضمین می‌کند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fa-IR" sz="1800" kern="100" dirty="0">
                <a:effectLst/>
                <a:latin typeface="Calibri" panose="020F0502020204030204" pitchFamily="34" charset="0"/>
                <a:ea typeface="Calibri" panose="020F0502020204030204" pitchFamily="34" charset="0"/>
                <a:cs typeface="B Mitra" panose="00000400000000000000" pitchFamily="2" charset="-78"/>
              </a:rPr>
              <a:t>در ساده‌ترین شکل، قالب از دو نیمه تشکیل شده است:</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fa-IR" sz="1800" kern="100" dirty="0">
                <a:effectLst/>
                <a:latin typeface="Calibri" panose="020F0502020204030204" pitchFamily="34" charset="0"/>
                <a:ea typeface="Calibri" panose="020F0502020204030204" pitchFamily="34" charset="0"/>
                <a:cs typeface="B Mitra" panose="00000400000000000000" pitchFamily="2" charset="-78"/>
              </a:rPr>
              <a:t>1- حفره </a:t>
            </a:r>
            <a:r>
              <a:rPr lang="fa-IR"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Cavity</a:t>
            </a:r>
            <a:r>
              <a:rPr lang="fa-IR"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fa-IR" sz="1800" kern="100" dirty="0">
                <a:effectLst/>
                <a:latin typeface="Calibri" panose="020F0502020204030204" pitchFamily="34" charset="0"/>
                <a:ea typeface="Calibri" panose="020F0502020204030204" pitchFamily="34" charset="0"/>
                <a:cs typeface="B Mitra" panose="00000400000000000000" pitchFamily="2" charset="-78"/>
              </a:rPr>
              <a:t> در جلو</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fa-IR" sz="1800" kern="100" dirty="0">
                <a:effectLst/>
                <a:latin typeface="Calibri" panose="020F0502020204030204" pitchFamily="34" charset="0"/>
                <a:ea typeface="Calibri" panose="020F0502020204030204" pitchFamily="34" charset="0"/>
                <a:cs typeface="B Mitra" panose="00000400000000000000" pitchFamily="2" charset="-78"/>
              </a:rPr>
              <a:t>2- هسته </a:t>
            </a:r>
            <a:r>
              <a:rPr lang="fa-IR"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Core</a:t>
            </a:r>
            <a:r>
              <a:rPr lang="fa-IR"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fa-IR" sz="1800" kern="100" dirty="0">
                <a:effectLst/>
                <a:latin typeface="Calibri" panose="020F0502020204030204" pitchFamily="34" charset="0"/>
                <a:ea typeface="Calibri" panose="020F0502020204030204" pitchFamily="34" charset="0"/>
                <a:cs typeface="B Mitra" panose="00000400000000000000" pitchFamily="2" charset="-78"/>
              </a:rPr>
              <a:t> در پشت</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fa-IR" sz="1800" kern="100" dirty="0">
                <a:effectLst/>
                <a:latin typeface="Calibri" panose="020F0502020204030204" pitchFamily="34" charset="0"/>
                <a:ea typeface="Calibri" panose="020F0502020204030204" pitchFamily="34" charset="0"/>
                <a:cs typeface="B Mitra" panose="00000400000000000000" pitchFamily="2" charset="-78"/>
              </a:rPr>
              <a:t>قطعات قالب‌گیری تزریقی معمولاً دو طرف دارند:</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fa-IR" sz="1800" kern="100" dirty="0">
                <a:effectLst/>
                <a:latin typeface="Calibri" panose="020F0502020204030204" pitchFamily="34" charset="0"/>
                <a:ea typeface="Calibri" panose="020F0502020204030204" pitchFamily="34" charset="0"/>
                <a:cs typeface="B Mitra" panose="00000400000000000000" pitchFamily="2" charset="-78"/>
              </a:rPr>
              <a:t>1- سمت </a:t>
            </a:r>
            <a:r>
              <a:rPr lang="en-US" sz="1800" kern="100" dirty="0">
                <a:effectLst/>
                <a:latin typeface="Calibri" panose="020F0502020204030204" pitchFamily="34" charset="0"/>
                <a:ea typeface="Calibri" panose="020F0502020204030204" pitchFamily="34" charset="0"/>
                <a:cs typeface="B Mitra" panose="00000400000000000000" pitchFamily="2" charset="-78"/>
              </a:rPr>
              <a:t>A</a:t>
            </a:r>
            <a:r>
              <a:rPr lang="fa-IR" sz="1800" kern="100" dirty="0">
                <a:effectLst/>
                <a:latin typeface="Calibri" panose="020F0502020204030204" pitchFamily="34" charset="0"/>
                <a:ea typeface="Calibri" panose="020F0502020204030204" pitchFamily="34" charset="0"/>
                <a:cs typeface="B Mitra" panose="00000400000000000000" pitchFamily="2" charset="-78"/>
              </a:rPr>
              <a:t> قطعه، که معمولاً از نظر بصری جذاب‌تر است، در آن حفره قرار دارد.</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fa-IR" sz="1800" kern="100" dirty="0">
                <a:effectLst/>
                <a:latin typeface="Calibri" panose="020F0502020204030204" pitchFamily="34" charset="0"/>
                <a:ea typeface="Calibri" panose="020F0502020204030204" pitchFamily="34" charset="0"/>
                <a:cs typeface="B Mitra" panose="00000400000000000000" pitchFamily="2" charset="-78"/>
              </a:rPr>
              <a:t>2- سمت </a:t>
            </a:r>
            <a:r>
              <a:rPr lang="en-US" sz="1800" kern="100" dirty="0">
                <a:effectLst/>
                <a:latin typeface="Calibri" panose="020F0502020204030204" pitchFamily="34" charset="0"/>
                <a:ea typeface="Calibri" panose="020F0502020204030204" pitchFamily="34" charset="0"/>
                <a:cs typeface="B Mitra" panose="00000400000000000000" pitchFamily="2" charset="-78"/>
              </a:rPr>
              <a:t>B</a:t>
            </a:r>
            <a:r>
              <a:rPr lang="fa-IR" sz="1800" kern="100" dirty="0">
                <a:effectLst/>
                <a:latin typeface="Calibri" panose="020F0502020204030204" pitchFamily="34" charset="0"/>
                <a:ea typeface="Calibri" panose="020F0502020204030204" pitchFamily="34" charset="0"/>
                <a:cs typeface="B Mitra" panose="00000400000000000000" pitchFamily="2" charset="-78"/>
              </a:rPr>
              <a:t> که به آن سمت عملکردی نیز گفته می‌شود، معمولاً شامل عناصر ساختاری پنهان قطعه است. بنابراین سطح آن اغلب ناهموار است و ردی از پین‌ها را نشان می‌دهد.</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fa-IR" sz="1800" kern="100" dirty="0">
                <a:effectLst/>
                <a:latin typeface="Calibri" panose="020F0502020204030204" pitchFamily="34" charset="0"/>
                <a:ea typeface="Calibri" panose="020F0502020204030204" pitchFamily="34" charset="0"/>
                <a:cs typeface="B Mitra" panose="00000400000000000000" pitchFamily="2" charset="-78"/>
              </a:rPr>
              <a:t>پلاستیک مذاب از طریق یک اسپرو به داخل قالب جریان می‌یابد و حفره‌های آن را پر می‌کند. پس از خنک شدن و انجماد، که معمولاً حدود نیمی از چرخه قالب‌گیری تزریقی را تشکیل می‌دهد، قالب باز می‌شود و قطعات قالب‌گیری شده خارج می‌شوند.</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F9B1497-6DA4-A447-E03D-D71A5649F05A}"/>
              </a:ext>
            </a:extLst>
          </p:cNvPr>
          <p:cNvPicPr>
            <a:picLocks noChangeAspect="1"/>
          </p:cNvPicPr>
          <p:nvPr/>
        </p:nvPicPr>
        <p:blipFill>
          <a:blip r:embed="rId3"/>
          <a:stretch>
            <a:fillRect/>
          </a:stretch>
        </p:blipFill>
        <p:spPr>
          <a:xfrm>
            <a:off x="1682114" y="2461895"/>
            <a:ext cx="3608953" cy="1934210"/>
          </a:xfrm>
          <a:prstGeom prst="rect">
            <a:avLst/>
          </a:prstGeom>
        </p:spPr>
      </p:pic>
    </p:spTree>
    <p:extLst>
      <p:ext uri="{BB962C8B-B14F-4D97-AF65-F5344CB8AC3E}">
        <p14:creationId xmlns:p14="http://schemas.microsoft.com/office/powerpoint/2010/main" val="294926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1000"/>
            <a:lum/>
          </a:blip>
          <a:srcRect/>
          <a:stretch>
            <a:fillRect t="-4000" b="-4000"/>
          </a:stretch>
        </a:blipFill>
        <a:effectLst/>
      </p:bgPr>
    </p:bg>
    <p:spTree>
      <p:nvGrpSpPr>
        <p:cNvPr id="1" name="">
          <a:extLst>
            <a:ext uri="{FF2B5EF4-FFF2-40B4-BE49-F238E27FC236}">
              <a16:creationId xmlns:a16="http://schemas.microsoft.com/office/drawing/2014/main" id="{3434B56F-A99E-A13A-822A-E48F3E26B967}"/>
            </a:ext>
          </a:extLst>
        </p:cNvPr>
        <p:cNvGrpSpPr/>
        <p:nvPr/>
      </p:nvGrpSpPr>
      <p:grpSpPr>
        <a:xfrm>
          <a:off x="0" y="0"/>
          <a:ext cx="0" cy="0"/>
          <a:chOff x="0" y="0"/>
          <a:chExt cx="0" cy="0"/>
        </a:xfrm>
      </p:grpSpPr>
      <p:sp>
        <p:nvSpPr>
          <p:cNvPr id="13" name="AutoShape 8">
            <a:extLst>
              <a:ext uri="{FF2B5EF4-FFF2-40B4-BE49-F238E27FC236}">
                <a16:creationId xmlns:a16="http://schemas.microsoft.com/office/drawing/2014/main" id="{1B469CDB-EFD6-FC37-0483-955C591D35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8DF57FAD-2D48-AA55-B682-322388935B91}"/>
              </a:ext>
            </a:extLst>
          </p:cNvPr>
          <p:cNvPicPr>
            <a:picLocks noChangeAspect="1"/>
          </p:cNvPicPr>
          <p:nvPr/>
        </p:nvPicPr>
        <p:blipFill>
          <a:blip r:embed="rId3"/>
          <a:stretch>
            <a:fillRect/>
          </a:stretch>
        </p:blipFill>
        <p:spPr>
          <a:xfrm>
            <a:off x="749779" y="1142596"/>
            <a:ext cx="7149484" cy="4572807"/>
          </a:xfrm>
          <a:prstGeom prst="rect">
            <a:avLst/>
          </a:prstGeom>
        </p:spPr>
      </p:pic>
      <p:sp>
        <p:nvSpPr>
          <p:cNvPr id="5" name="TextBox 4">
            <a:extLst>
              <a:ext uri="{FF2B5EF4-FFF2-40B4-BE49-F238E27FC236}">
                <a16:creationId xmlns:a16="http://schemas.microsoft.com/office/drawing/2014/main" id="{D14A2E68-7527-1A3E-4F4C-659E187D6622}"/>
              </a:ext>
            </a:extLst>
          </p:cNvPr>
          <p:cNvSpPr txBox="1"/>
          <p:nvPr/>
        </p:nvSpPr>
        <p:spPr>
          <a:xfrm>
            <a:off x="8368496" y="1149735"/>
            <a:ext cx="3212621" cy="4253729"/>
          </a:xfrm>
          <a:prstGeom prst="rect">
            <a:avLst/>
          </a:prstGeom>
          <a:noFill/>
        </p:spPr>
        <p:txBody>
          <a:bodyPr wrap="square">
            <a:spAutoFit/>
          </a:bodyPr>
          <a:lstStyle/>
          <a:p>
            <a:pPr algn="r" rtl="1">
              <a:lnSpc>
                <a:spcPct val="115000"/>
              </a:lnSpc>
              <a:spcAft>
                <a:spcPts val="800"/>
              </a:spcAft>
              <a:buNone/>
            </a:pPr>
            <a:r>
              <a:rPr lang="ar-SA" sz="2000" b="1" kern="100" dirty="0">
                <a:effectLst/>
                <a:latin typeface="Calibri" panose="020F0502020204030204" pitchFamily="34" charset="0"/>
                <a:ea typeface="Calibri" panose="020F0502020204030204" pitchFamily="34" charset="0"/>
                <a:cs typeface="B Mitra" panose="00000400000000000000" pitchFamily="2" charset="-78"/>
              </a:rPr>
              <a:t>مواد سازنده قالب</a:t>
            </a:r>
            <a:r>
              <a:rPr lang="ar-SA" sz="1800" b="1" kern="100" dirty="0">
                <a:effectLst/>
                <a:latin typeface="Calibri" panose="020F0502020204030204" pitchFamily="34" charset="0"/>
                <a:ea typeface="Calibri" panose="020F0502020204030204" pitchFamily="34" charset="0"/>
                <a:cs typeface="B Mitra" panose="00000400000000000000" pitchFamily="2" charset="-78"/>
              </a:rPr>
              <a: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50000"/>
              </a:lnSpc>
              <a:buNone/>
            </a:pPr>
            <a:r>
              <a:rPr lang="ar-SA" sz="1800" dirty="0">
                <a:effectLst/>
                <a:latin typeface="Calibri" panose="020F0502020204030204" pitchFamily="34" charset="0"/>
                <a:ea typeface="Calibri" panose="020F0502020204030204" pitchFamily="34" charset="0"/>
                <a:cs typeface="B Mitra" panose="00000400000000000000" pitchFamily="2" charset="-78"/>
              </a:rPr>
              <a:t>قالب‌های تزریق پلاستیک معمولاً از فولادهای آلیاژی با سختی بالا ساخته می‌شوند تا بتوانند فشارهای زیاد و سیکل‌های حرارتی مداوم را تحمل کنند</a:t>
            </a:r>
            <a:r>
              <a:rPr lang="en-US" sz="1800" dirty="0">
                <a:effectLst/>
                <a:latin typeface="Calibri" panose="020F0502020204030204" pitchFamily="34" charset="0"/>
                <a:ea typeface="Calibri" panose="020F0502020204030204" pitchFamily="34" charset="0"/>
                <a:cs typeface="B Mitra" panose="00000400000000000000" pitchFamily="2" charset="-78"/>
              </a:rPr>
              <a:t>.</a:t>
            </a:r>
            <a:r>
              <a:rPr lang="fa-IR" sz="1800" dirty="0">
                <a:effectLst/>
                <a:latin typeface="Calibri" panose="020F0502020204030204" pitchFamily="34" charset="0"/>
                <a:ea typeface="Calibri" panose="020F0502020204030204" pitchFamily="34" charset="0"/>
                <a:cs typeface="B Mitra" panose="00000400000000000000" pitchFamily="2" charset="-78"/>
              </a:rPr>
              <a:t> ف</a:t>
            </a:r>
            <a:r>
              <a:rPr lang="ar-SA" sz="1800" dirty="0">
                <a:effectLst/>
                <a:latin typeface="Calibri" panose="020F0502020204030204" pitchFamily="34" charset="0"/>
                <a:ea typeface="Calibri" panose="020F0502020204030204" pitchFamily="34" charset="0"/>
                <a:cs typeface="B Mitra" panose="00000400000000000000" pitchFamily="2" charset="-78"/>
              </a:rPr>
              <a:t>ولادهای ابزار</a:t>
            </a:r>
            <a:r>
              <a:rPr lang="ar-SA" sz="1800" dirty="0">
                <a:effectLst/>
                <a:ea typeface="Calibri" panose="020F0502020204030204" pitchFamily="34" charset="0"/>
                <a:cs typeface="Calibri" panose="020F0502020204030204" pitchFamily="34" charset="0"/>
              </a:rPr>
              <a:t> </a:t>
            </a:r>
            <a:r>
              <a:rPr lang="en-US" sz="1800" dirty="0">
                <a:effectLst/>
                <a:ea typeface="Calibri" panose="020F0502020204030204" pitchFamily="34" charset="0"/>
                <a:cs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(Tool Steels)</a:t>
            </a:r>
            <a:r>
              <a:rPr lang="en-US" sz="1800" dirty="0">
                <a:effectLst/>
                <a:latin typeface="Calibri" panose="020F0502020204030204" pitchFamily="34" charset="0"/>
                <a:ea typeface="Calibri" panose="020F0502020204030204" pitchFamily="34" charset="0"/>
                <a:cs typeface="B Mitra" panose="00000400000000000000" pitchFamily="2" charset="-78"/>
              </a:rPr>
              <a:t> </a:t>
            </a:r>
            <a:r>
              <a:rPr lang="fa-IR" sz="1800" dirty="0">
                <a:effectLst/>
                <a:latin typeface="Calibri" panose="020F0502020204030204" pitchFamily="34" charset="0"/>
                <a:ea typeface="Calibri" panose="020F0502020204030204" pitchFamily="34" charset="0"/>
                <a:cs typeface="B Mitra" panose="00000400000000000000" pitchFamily="2" charset="-78"/>
              </a:rPr>
              <a:t>  م</a:t>
            </a:r>
            <a:r>
              <a:rPr lang="ar-SA" sz="1800" dirty="0">
                <a:effectLst/>
                <a:latin typeface="Calibri" panose="020F0502020204030204" pitchFamily="34" charset="0"/>
                <a:ea typeface="Calibri" panose="020F0502020204030204" pitchFamily="34" charset="0"/>
                <a:cs typeface="B Mitra" panose="00000400000000000000" pitchFamily="2" charset="-78"/>
              </a:rPr>
              <a:t>انند </a:t>
            </a:r>
            <a:r>
              <a:rPr lang="en-US" sz="1800" dirty="0">
                <a:effectLst/>
                <a:latin typeface="Calibri" panose="020F0502020204030204" pitchFamily="34" charset="0"/>
                <a:ea typeface="Calibri" panose="020F0502020204030204" pitchFamily="34" charset="0"/>
                <a:cs typeface="B Mitra" panose="00000400000000000000" pitchFamily="2" charset="-78"/>
              </a:rPr>
              <a:t>P20 </a:t>
            </a:r>
            <a:r>
              <a:rPr lang="ar-SA" sz="1800" dirty="0">
                <a:effectLst/>
                <a:latin typeface="Calibri" panose="020F0502020204030204" pitchFamily="34" charset="0"/>
                <a:ea typeface="Calibri" panose="020F0502020204030204" pitchFamily="34" charset="0"/>
                <a:cs typeface="B Mitra" panose="00000400000000000000" pitchFamily="2" charset="-78"/>
              </a:rPr>
              <a:t>،</a:t>
            </a:r>
            <a:r>
              <a:rPr lang="en-US" sz="1800" dirty="0">
                <a:effectLst/>
                <a:latin typeface="Calibri" panose="020F0502020204030204" pitchFamily="34" charset="0"/>
                <a:ea typeface="Calibri" panose="020F0502020204030204" pitchFamily="34" charset="0"/>
                <a:cs typeface="B Mitra" panose="00000400000000000000" pitchFamily="2" charset="-78"/>
              </a:rPr>
              <a:t> H13 </a:t>
            </a:r>
            <a:r>
              <a:rPr lang="ar-SA" sz="1800" dirty="0">
                <a:effectLst/>
                <a:latin typeface="Calibri" panose="020F0502020204030204" pitchFamily="34" charset="0"/>
                <a:ea typeface="Calibri" panose="020F0502020204030204" pitchFamily="34" charset="0"/>
                <a:cs typeface="B Mitra" panose="00000400000000000000" pitchFamily="2" charset="-78"/>
              </a:rPr>
              <a:t>و </a:t>
            </a:r>
            <a:r>
              <a:rPr lang="en-US" sz="1800" dirty="0">
                <a:effectLst/>
                <a:latin typeface="Calibri" panose="020F0502020204030204" pitchFamily="34" charset="0"/>
                <a:ea typeface="Calibri" panose="020F0502020204030204" pitchFamily="34" charset="0"/>
                <a:cs typeface="B Mitra" panose="00000400000000000000" pitchFamily="2" charset="-78"/>
              </a:rPr>
              <a:t> S7 </a:t>
            </a:r>
            <a:r>
              <a:rPr lang="ar-SA" sz="1800" dirty="0">
                <a:effectLst/>
                <a:latin typeface="Calibri" panose="020F0502020204030204" pitchFamily="34" charset="0"/>
                <a:ea typeface="Calibri" panose="020F0502020204030204" pitchFamily="34" charset="0"/>
                <a:cs typeface="B Mitra" panose="00000400000000000000" pitchFamily="2" charset="-78"/>
              </a:rPr>
              <a:t>از رایج‌ترین انتخاب‌ها هستند. برای نمونه‌سازی یا تیراژهای بسیار پایین، گاهی از آلومینیوم نیز استفاده می‌شود که ارزان‌تر است و ماشین‌کاری آن آسان‌تر است، اما عمر مفید کمتری دارد</a:t>
            </a:r>
            <a:endParaRPr lang="en-US" dirty="0"/>
          </a:p>
        </p:txBody>
      </p:sp>
    </p:spTree>
    <p:extLst>
      <p:ext uri="{BB962C8B-B14F-4D97-AF65-F5344CB8AC3E}">
        <p14:creationId xmlns:p14="http://schemas.microsoft.com/office/powerpoint/2010/main" val="2556531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3000"/>
            <a:lum/>
          </a:blip>
          <a:srcRect/>
          <a:stretch>
            <a:fillRect l="-11000" r="-11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569299-7EAF-FD66-CB83-9061A264DB5D}"/>
              </a:ext>
            </a:extLst>
          </p:cNvPr>
          <p:cNvSpPr txBox="1"/>
          <p:nvPr/>
        </p:nvSpPr>
        <p:spPr>
          <a:xfrm>
            <a:off x="5181600" y="692649"/>
            <a:ext cx="6096000" cy="4781822"/>
          </a:xfrm>
          <a:prstGeom prst="rect">
            <a:avLst/>
          </a:prstGeom>
          <a:noFill/>
        </p:spPr>
        <p:txBody>
          <a:bodyPr wrap="square">
            <a:spAutoFit/>
          </a:bodyPr>
          <a:lstStyle/>
          <a:p>
            <a:pPr algn="just" rtl="1">
              <a:lnSpc>
                <a:spcPct val="115000"/>
              </a:lnSpc>
              <a:spcAft>
                <a:spcPts val="800"/>
              </a:spcAft>
              <a:buNone/>
            </a:pPr>
            <a:r>
              <a:rPr lang="fa-IR" sz="2000" b="1" kern="100" dirty="0">
                <a:effectLst/>
                <a:latin typeface="Calibri" panose="020F0502020204030204" pitchFamily="34" charset="0"/>
                <a:ea typeface="Calibri" panose="020F0502020204030204" pitchFamily="34" charset="0"/>
                <a:cs typeface="B Mitra" panose="00000400000000000000" pitchFamily="2" charset="-78"/>
              </a:rPr>
              <a:t>اجزای اصلی</a:t>
            </a:r>
            <a:r>
              <a:rPr lang="ar-SA" sz="2000" b="1" kern="100" dirty="0">
                <a:effectLst/>
                <a:latin typeface="Calibri" panose="020F0502020204030204" pitchFamily="34" charset="0"/>
                <a:ea typeface="Calibri" panose="020F0502020204030204" pitchFamily="34" charset="0"/>
                <a:cs typeface="B Mitra" panose="00000400000000000000" pitchFamily="2" charset="-78"/>
              </a:rPr>
              <a:t> قالب تزریقی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SzPts val="1000"/>
              <a:buFont typeface="Symbol" panose="05050102010706020507" pitchFamily="18" charset="2"/>
              <a:buChar char=""/>
              <a:tabLst>
                <a:tab pos="457200" algn="l"/>
              </a:tabLst>
            </a:pPr>
            <a:r>
              <a:rPr lang="ar-SA" sz="1800" kern="100" dirty="0">
                <a:effectLst/>
                <a:latin typeface="Calibri" panose="020F0502020204030204" pitchFamily="34" charset="0"/>
                <a:ea typeface="Calibri" panose="020F0502020204030204" pitchFamily="34" charset="0"/>
                <a:cs typeface="B Mitra" panose="00000400000000000000" pitchFamily="2" charset="-78"/>
              </a:rPr>
              <a:t>راهگاه</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Runner</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کانال‌هایی تعبیه شده در قالب که مواد مذاب را از نازل دستگاه به سمت گلویی‌ها هدایت می‌کنند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SzPts val="1000"/>
              <a:buFont typeface="Symbol" panose="05050102010706020507" pitchFamily="18" charset="2"/>
              <a:buChar char=""/>
              <a:tabLst>
                <a:tab pos="457200" algn="l"/>
              </a:tabLst>
            </a:pPr>
            <a:r>
              <a:rPr lang="ar-SA" sz="1800" kern="100" dirty="0">
                <a:effectLst/>
                <a:latin typeface="Calibri" panose="020F0502020204030204" pitchFamily="34" charset="0"/>
                <a:ea typeface="Calibri" panose="020F0502020204030204" pitchFamily="34" charset="0"/>
                <a:cs typeface="B Mitra" panose="00000400000000000000" pitchFamily="2" charset="-78"/>
              </a:rPr>
              <a:t>گلویی</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Gate</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نقطه ورودی محل اتصال راهگاه به حفره قالب؛ این بخش معمولاً کمترین سطح مقطع را دارد تا جداسازی قطعه راحت باشد و جریان مذاب با تمرکز بالاتری وارد قالب شود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SzPts val="1000"/>
              <a:buFont typeface="Symbol" panose="05050102010706020507" pitchFamily="18" charset="2"/>
              <a:buChar char=""/>
              <a:tabLst>
                <a:tab pos="457200" algn="l"/>
              </a:tabLst>
            </a:pPr>
            <a:r>
              <a:rPr lang="ar-SA" sz="1800" kern="100" dirty="0">
                <a:effectLst/>
                <a:latin typeface="Calibri" panose="020F0502020204030204" pitchFamily="34" charset="0"/>
                <a:ea typeface="Calibri" panose="020F0502020204030204" pitchFamily="34" charset="0"/>
                <a:cs typeface="B Mitra" panose="00000400000000000000" pitchFamily="2" charset="-78"/>
              </a:rPr>
              <a:t>سیستم خنک‌کاری</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r>
              <a:rPr lang="fa-IR" sz="1800" kern="100" dirty="0">
                <a:effectLst/>
                <a:latin typeface="Calibri" panose="020F0502020204030204" pitchFamily="34" charset="0"/>
                <a:ea typeface="Calibri" panose="020F0502020204030204" pitchFamily="34" charset="0"/>
                <a:cs typeface="B Mitra" panose="00000400000000000000" pitchFamily="2" charset="-78"/>
              </a:rPr>
              <a:t> ک</a:t>
            </a:r>
            <a:r>
              <a:rPr lang="ar-SA" sz="1800" kern="100" dirty="0">
                <a:effectLst/>
                <a:latin typeface="Calibri" panose="020F0502020204030204" pitchFamily="34" charset="0"/>
                <a:ea typeface="Calibri" panose="020F0502020204030204" pitchFamily="34" charset="0"/>
                <a:cs typeface="B Mitra" panose="00000400000000000000" pitchFamily="2" charset="-78"/>
              </a:rPr>
              <a:t>انال‌های ماشین‌کاری شده در ضخامت فولاد قالب که آب خنک‌کننده از آن‌ها عبور می‌کند تا حرارت را سریعاً از قالب و قطعه خارج کرده و آن را جامد کند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SzPts val="1000"/>
              <a:buFont typeface="Symbol" panose="05050102010706020507" pitchFamily="18" charset="2"/>
              <a:buChar char=""/>
              <a:tabLst>
                <a:tab pos="457200" algn="l"/>
              </a:tabLst>
            </a:pPr>
            <a:r>
              <a:rPr lang="ar-SA" sz="1800" kern="100" dirty="0">
                <a:effectLst/>
                <a:latin typeface="Calibri" panose="020F0502020204030204" pitchFamily="34" charset="0"/>
                <a:ea typeface="Calibri" panose="020F0502020204030204" pitchFamily="34" charset="0"/>
                <a:cs typeface="B Mitra" panose="00000400000000000000" pitchFamily="2" charset="-78"/>
              </a:rPr>
              <a:t>سیستم پران</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r>
              <a:rPr lang="fa-IR" sz="1800" kern="100" dirty="0">
                <a:effectLst/>
                <a:latin typeface="Calibri" panose="020F0502020204030204" pitchFamily="34" charset="0"/>
                <a:ea typeface="Calibri" panose="020F0502020204030204" pitchFamily="34" charset="0"/>
                <a:cs typeface="B Mitra" panose="00000400000000000000" pitchFamily="2" charset="-78"/>
              </a:rPr>
              <a:t> ش</a:t>
            </a:r>
            <a:r>
              <a:rPr lang="ar-SA" sz="1800" kern="100" dirty="0">
                <a:effectLst/>
                <a:latin typeface="Calibri" panose="020F0502020204030204" pitchFamily="34" charset="0"/>
                <a:ea typeface="Calibri" panose="020F0502020204030204" pitchFamily="34" charset="0"/>
                <a:cs typeface="B Mitra" panose="00000400000000000000" pitchFamily="2" charset="-78"/>
              </a:rPr>
              <a:t>امل پین‌های پران</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Ejector Pins</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r>
              <a:rPr lang="ar-SA" sz="1800" kern="100" dirty="0">
                <a:effectLst/>
                <a:latin typeface="Calibri" panose="020F0502020204030204" pitchFamily="34" charset="0"/>
                <a:ea typeface="Calibri" panose="020F0502020204030204" pitchFamily="34" charset="0"/>
                <a:cs typeface="B Mitra" panose="00000400000000000000" pitchFamily="2" charset="-78"/>
              </a:rPr>
              <a:t>، صفحه پران و جک‌های مربوطه که وظیفه خارج کردن قطعه‌ی صلب‌شده را از قالب بر عهده دارند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SzPts val="1000"/>
              <a:buFont typeface="Symbol" panose="05050102010706020507" pitchFamily="18" charset="2"/>
              <a:buChar char=""/>
              <a:tabLst>
                <a:tab pos="457200" algn="l"/>
              </a:tabLst>
            </a:pPr>
            <a:r>
              <a:rPr lang="ar-SA" sz="1800" kern="100" dirty="0">
                <a:effectLst/>
                <a:latin typeface="Calibri" panose="020F0502020204030204" pitchFamily="34" charset="0"/>
                <a:ea typeface="Calibri" panose="020F0502020204030204" pitchFamily="34" charset="0"/>
                <a:cs typeface="B Mitra" panose="00000400000000000000" pitchFamily="2" charset="-78"/>
              </a:rPr>
              <a:t>صفحات قالب</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Mold Plates</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fa-IR"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صفحات فولادی که حفره، ماهیچه و سایر اجزا روی آن‌ها سوار می‌شوند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880366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6000"/>
            <a:lum/>
          </a:blip>
          <a:srcRect/>
          <a:stretch>
            <a:fillRect l="-6000" r="-6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5C0AC8-CCB9-EBC9-E6A1-D1549D5FBECA}"/>
              </a:ext>
            </a:extLst>
          </p:cNvPr>
          <p:cNvSpPr txBox="1"/>
          <p:nvPr/>
        </p:nvSpPr>
        <p:spPr>
          <a:xfrm>
            <a:off x="5811520" y="1182287"/>
            <a:ext cx="5730240" cy="4222694"/>
          </a:xfrm>
          <a:prstGeom prst="rect">
            <a:avLst/>
          </a:prstGeom>
          <a:noFill/>
        </p:spPr>
        <p:txBody>
          <a:bodyPr wrap="square">
            <a:spAutoFit/>
          </a:bodyPr>
          <a:lstStyle/>
          <a:p>
            <a:pPr algn="just" rtl="1">
              <a:lnSpc>
                <a:spcPct val="115000"/>
              </a:lnSpc>
              <a:spcAft>
                <a:spcPts val="800"/>
              </a:spcAft>
              <a:buNone/>
            </a:pPr>
            <a:r>
              <a:rPr lang="ar-SA" sz="1800" b="1" kern="100" dirty="0">
                <a:effectLst/>
                <a:latin typeface="Calibri" panose="020F0502020204030204" pitchFamily="34" charset="0"/>
                <a:ea typeface="Calibri" panose="020F0502020204030204" pitchFamily="34" charset="0"/>
                <a:cs typeface="B Mitra" panose="00000400000000000000" pitchFamily="2" charset="-78"/>
              </a:rPr>
              <a:t>انواع قالب بر اساس سیستم راهگاه</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سیستم راهگاه نقش مهمی در انتقال مواد مذاب و کیفیت قطعه نهایی ایفا می‌کند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SzPts val="1000"/>
              <a:buFont typeface="Symbol" panose="05050102010706020507" pitchFamily="18" charset="2"/>
              <a:buChar char=""/>
              <a:tabLst>
                <a:tab pos="457200" algn="l"/>
              </a:tabLst>
            </a:pPr>
            <a:r>
              <a:rPr lang="ar-SA" sz="1800" kern="100" dirty="0">
                <a:effectLst/>
                <a:latin typeface="Calibri" panose="020F0502020204030204" pitchFamily="34" charset="0"/>
                <a:ea typeface="Calibri" panose="020F0502020204030204" pitchFamily="34" charset="0"/>
                <a:cs typeface="B Mitra" panose="00000400000000000000" pitchFamily="2" charset="-78"/>
              </a:rPr>
              <a:t>راهگاه سرد</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Cold Runner</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در این سیستم، راهگاه‌ها پس از هر سیکل به همراه قطعه اصلی جامد شده و از قالب خارج می‌شوند. این راهگاه‌ها معمولاً به عنوان ضایعات دور ریخته می‌شوند (یا بازیافت می‌شوند، به خصوص اگر از</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گرانول بازیافتی</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استفاده شده باشد)، که منجر به اتلاف مواد و نیاز به عملیات جداسازی راهگاه می‌شود. مزیت اصلی این روش، سادگی طراحی و هزینه ساخت کمتر است</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SzPts val="1000"/>
              <a:buFont typeface="Symbol" panose="05050102010706020507" pitchFamily="18" charset="2"/>
              <a:buChar char=""/>
              <a:tabLst>
                <a:tab pos="457200" algn="l"/>
              </a:tabLst>
            </a:pPr>
            <a:r>
              <a:rPr lang="ar-SA" sz="1800" kern="100" dirty="0">
                <a:effectLst/>
                <a:latin typeface="Calibri" panose="020F0502020204030204" pitchFamily="34" charset="0"/>
                <a:ea typeface="Calibri" panose="020F0502020204030204" pitchFamily="34" charset="0"/>
                <a:cs typeface="B Mitra" panose="00000400000000000000" pitchFamily="2" charset="-78"/>
              </a:rPr>
              <a:t>راهگاه گرم</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Hot Runner</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در این سیستم، راهگاه‌ها توسط هیترهای داخلی گرم نگه داشته می‌شوند تا مواد در آن‌ها همیشه مذاب بمانند و به حفره تزریق شوند. این روش ضایعات راهگاه را حذف می‌کند، زمان سیکل را کاهش می‌دهد و کیفیت قطعه را بهبود می‌بخشد. با این حال، طراحی و ساخت آن‌ها پیچیده‌تر و پرهزینه‌تر است</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69885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000"/>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D22B09-7CCF-10EB-689F-CDB3E95317C0}"/>
              </a:ext>
            </a:extLst>
          </p:cNvPr>
          <p:cNvSpPr txBox="1"/>
          <p:nvPr/>
        </p:nvSpPr>
        <p:spPr>
          <a:xfrm>
            <a:off x="5709920" y="648890"/>
            <a:ext cx="5882640" cy="5167568"/>
          </a:xfrm>
          <a:prstGeom prst="rect">
            <a:avLst/>
          </a:prstGeom>
          <a:noFill/>
        </p:spPr>
        <p:txBody>
          <a:bodyPr wrap="square">
            <a:spAutoFit/>
          </a:bodyPr>
          <a:lstStyle/>
          <a:p>
            <a:pPr algn="just" rtl="1">
              <a:lnSpc>
                <a:spcPct val="115000"/>
              </a:lnSpc>
              <a:spcAft>
                <a:spcPts val="800"/>
              </a:spcAft>
              <a:buNone/>
            </a:pPr>
            <a:r>
              <a:rPr lang="ar-SA" sz="1800" b="1" kern="100" dirty="0">
                <a:solidFill>
                  <a:srgbClr val="C00000"/>
                </a:solidFill>
                <a:effectLst/>
                <a:latin typeface="Calibri" panose="020F0502020204030204" pitchFamily="34" charset="0"/>
                <a:ea typeface="Calibri" panose="020F0502020204030204" pitchFamily="34" charset="0"/>
                <a:cs typeface="B Mitra" panose="00000400000000000000" pitchFamily="2" charset="-78"/>
              </a:rPr>
              <a:t>نکات کلیدی در طراحی قالب</a:t>
            </a:r>
            <a:endParaRPr lang="en-US" sz="1600" kern="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طراحی قالب نیازمند در نظر گرفتن عوامل متعددی است</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dirty="0">
                <a:effectLst/>
                <a:latin typeface="Calibri" panose="020F0502020204030204" pitchFamily="34" charset="0"/>
                <a:ea typeface="Calibri" panose="020F0502020204030204" pitchFamily="34" charset="0"/>
                <a:cs typeface="B Mitra" panose="00000400000000000000" pitchFamily="2" charset="-78"/>
              </a:rPr>
              <a:t>انقباض مواد</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هر ماده پلاستیکی پس از سرد شدن، دچار انقباض می‌شود. قالب باید با در نظر گرفتن این انقباض، کمی بزرگتر ساخته شود تا ابعاد نهایی قطعه دقیق باشد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dirty="0">
                <a:effectLst/>
                <a:latin typeface="Calibri" panose="020F0502020204030204" pitchFamily="34" charset="0"/>
                <a:ea typeface="Calibri" panose="020F0502020204030204" pitchFamily="34" charset="0"/>
                <a:cs typeface="B Mitra" panose="00000400000000000000" pitchFamily="2" charset="-78"/>
              </a:rPr>
              <a:t>زوایای خروج</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Draft Angles</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برای سهولت در خارج کردن قطعه از قالب و جلوگیری از آسیب به آن، باید زوایای کوچکی (معمولاً 0.5 تا </a:t>
            </a:r>
            <a:r>
              <a:rPr lang="fa-IR" sz="1800" kern="100" dirty="0">
                <a:effectLst/>
                <a:latin typeface="Calibri" panose="020F0502020204030204" pitchFamily="34" charset="0"/>
                <a:ea typeface="Calibri" panose="020F0502020204030204" pitchFamily="34" charset="0"/>
                <a:cs typeface="B Mitra" panose="00000400000000000000" pitchFamily="2" charset="-78"/>
              </a:rPr>
              <a:t>2 </a:t>
            </a:r>
            <a:r>
              <a:rPr lang="ar-SA" sz="1800" kern="100" dirty="0">
                <a:effectLst/>
                <a:latin typeface="Calibri" panose="020F0502020204030204" pitchFamily="34" charset="0"/>
                <a:ea typeface="Calibri" panose="020F0502020204030204" pitchFamily="34" charset="0"/>
                <a:cs typeface="B Mitra" panose="00000400000000000000" pitchFamily="2" charset="-78"/>
              </a:rPr>
              <a:t>درجه) به دیواره‌های قالب داده شود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dirty="0">
                <a:effectLst/>
                <a:latin typeface="Calibri" panose="020F0502020204030204" pitchFamily="34" charset="0"/>
                <a:ea typeface="Calibri" panose="020F0502020204030204" pitchFamily="34" charset="0"/>
                <a:cs typeface="B Mitra" panose="00000400000000000000" pitchFamily="2" charset="-78"/>
              </a:rPr>
              <a:t>ضخامت دیواره یکنواخت</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حفظ ضخامت یکنواخت دیواره در سراسر قطعه به جلوگیری از واپیچیدگی</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Warpage</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sz="1800" kern="100" dirty="0">
                <a:effectLst/>
                <a:latin typeface="B Mitra" panose="00000400000000000000" pitchFamily="2" charset="-78"/>
                <a:ea typeface="Calibri" panose="020F0502020204030204" pitchFamily="34" charset="0"/>
                <a:cs typeface="Arial" panose="020B0604020202020204" pitchFamily="34" charset="0"/>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و فرورفتگی کمک می‌کند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228600" algn="r">
              <a:lnSpc>
                <a:spcPct val="115000"/>
              </a:lnSpc>
              <a:spcAft>
                <a:spcPts val="800"/>
              </a:spcAft>
              <a:buNone/>
            </a:pPr>
            <a:r>
              <a:rPr lang="ar-SA" sz="1800" b="1" kern="0" dirty="0">
                <a:effectLst/>
                <a:latin typeface="Times New Roman" panose="02020603050405020304" pitchFamily="18" charset="0"/>
                <a:ea typeface="Times New Roman" panose="02020603050405020304" pitchFamily="18" charset="0"/>
                <a:cs typeface="B Mitra" panose="00000400000000000000" pitchFamily="2" charset="-78"/>
              </a:rPr>
              <a:t>نوآوری‌ها در ساخت قالب</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228600" algn="r">
              <a:lnSpc>
                <a:spcPct val="115000"/>
              </a:lnSpc>
              <a:spcAft>
                <a:spcPts val="800"/>
              </a:spcAft>
              <a:buNone/>
            </a:pPr>
            <a:r>
              <a:rPr lang="ar-SA" sz="1800" kern="0" dirty="0">
                <a:effectLst/>
                <a:latin typeface="Times New Roman" panose="02020603050405020304" pitchFamily="18" charset="0"/>
                <a:ea typeface="Times New Roman" panose="02020603050405020304" pitchFamily="18" charset="0"/>
                <a:cs typeface="B Mitra" panose="00000400000000000000" pitchFamily="2" charset="-78"/>
              </a:rPr>
              <a:t>پرینت سه‌بعدی قالب‌ها، به ویژه برای ساخت قالب‌های موقت و نمونه‌سازی، انقلابی در صنعت ایجاد کرده است. این روش امکان ساخت قالب‌ها با هزینه کمتر و سرعت بالاتر را فراهم می‌کند که برای تولیدات با تیراژ کم و آزمایش طرح‌های جدید بسیار مفید است.</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979D36A-3444-73DB-7B06-57F05B83F02C}"/>
              </a:ext>
            </a:extLst>
          </p:cNvPr>
          <p:cNvPicPr>
            <a:picLocks noChangeAspect="1"/>
          </p:cNvPicPr>
          <p:nvPr/>
        </p:nvPicPr>
        <p:blipFill>
          <a:blip r:embed="rId3"/>
          <a:stretch>
            <a:fillRect/>
          </a:stretch>
        </p:blipFill>
        <p:spPr>
          <a:xfrm>
            <a:off x="934720" y="831771"/>
            <a:ext cx="3987734" cy="2851230"/>
          </a:xfrm>
          <a:prstGeom prst="rect">
            <a:avLst/>
          </a:prstGeom>
        </p:spPr>
      </p:pic>
      <p:pic>
        <p:nvPicPr>
          <p:cNvPr id="8" name="Picture 7">
            <a:extLst>
              <a:ext uri="{FF2B5EF4-FFF2-40B4-BE49-F238E27FC236}">
                <a16:creationId xmlns:a16="http://schemas.microsoft.com/office/drawing/2014/main" id="{9705C46F-16C3-D075-0184-60AD22047F48}"/>
              </a:ext>
            </a:extLst>
          </p:cNvPr>
          <p:cNvPicPr>
            <a:picLocks noChangeAspect="1"/>
          </p:cNvPicPr>
          <p:nvPr/>
        </p:nvPicPr>
        <p:blipFill>
          <a:blip r:embed="rId4"/>
          <a:stretch>
            <a:fillRect/>
          </a:stretch>
        </p:blipFill>
        <p:spPr>
          <a:xfrm>
            <a:off x="934720" y="3825241"/>
            <a:ext cx="3987734" cy="2243100"/>
          </a:xfrm>
          <a:prstGeom prst="rect">
            <a:avLst/>
          </a:prstGeom>
        </p:spPr>
      </p:pic>
    </p:spTree>
    <p:extLst>
      <p:ext uri="{BB962C8B-B14F-4D97-AF65-F5344CB8AC3E}">
        <p14:creationId xmlns:p14="http://schemas.microsoft.com/office/powerpoint/2010/main" val="1253488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1000"/>
            <a:lum/>
          </a:blip>
          <a:srcRect/>
          <a:stretch>
            <a:fillRect t="-9000" b="-9000"/>
          </a:stretch>
        </a:blipFill>
        <a:effectLst/>
      </p:bgPr>
    </p:bg>
    <p:spTree>
      <p:nvGrpSpPr>
        <p:cNvPr id="1" name="">
          <a:extLst>
            <a:ext uri="{FF2B5EF4-FFF2-40B4-BE49-F238E27FC236}">
              <a16:creationId xmlns:a16="http://schemas.microsoft.com/office/drawing/2014/main" id="{8F09F9DB-D934-B5CB-524E-7145F67585A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210DD13-513E-37B8-36A8-72C172927295}"/>
              </a:ext>
            </a:extLst>
          </p:cNvPr>
          <p:cNvSpPr txBox="1"/>
          <p:nvPr/>
        </p:nvSpPr>
        <p:spPr>
          <a:xfrm>
            <a:off x="3576320" y="478961"/>
            <a:ext cx="8128000" cy="5900077"/>
          </a:xfrm>
          <a:prstGeom prst="rect">
            <a:avLst/>
          </a:prstGeom>
          <a:noFill/>
        </p:spPr>
        <p:txBody>
          <a:bodyPr wrap="square">
            <a:spAutoFit/>
          </a:bodyPr>
          <a:lstStyle/>
          <a:p>
            <a:pPr algn="just" rtl="1">
              <a:lnSpc>
                <a:spcPct val="115000"/>
              </a:lnSpc>
              <a:spcAft>
                <a:spcPts val="800"/>
              </a:spcAft>
              <a:buNone/>
            </a:pPr>
            <a:r>
              <a:rPr lang="en-US" sz="2400" b="1" kern="100" dirty="0">
                <a:solidFill>
                  <a:srgbClr val="0070C0"/>
                </a:solidFill>
                <a:effectLst/>
                <a:latin typeface="Calibri" panose="020F0502020204030204" pitchFamily="34" charset="0"/>
                <a:ea typeface="Calibri" panose="020F0502020204030204" pitchFamily="34" charset="0"/>
                <a:cs typeface="B Mitra" panose="00000400000000000000" pitchFamily="2" charset="-78"/>
              </a:rPr>
              <a:t>3</a:t>
            </a:r>
            <a:r>
              <a:rPr lang="fa-IR" sz="2400" b="1" kern="100" dirty="0">
                <a:solidFill>
                  <a:srgbClr val="0070C0"/>
                </a:solidFill>
                <a:effectLst/>
                <a:latin typeface="Calibri" panose="020F0502020204030204" pitchFamily="34" charset="0"/>
                <a:ea typeface="Calibri" panose="020F0502020204030204" pitchFamily="34" charset="0"/>
                <a:cs typeface="B Mitra" panose="00000400000000000000" pitchFamily="2" charset="-78"/>
              </a:rPr>
              <a:t>- </a:t>
            </a:r>
            <a:r>
              <a:rPr lang="fa-IR" sz="2400" b="1" kern="100" dirty="0">
                <a:solidFill>
                  <a:srgbClr val="0070C0"/>
                </a:solidFill>
                <a:effectLst/>
                <a:latin typeface="Times New Roman" panose="02020603050405020304" pitchFamily="18" charset="0"/>
                <a:ea typeface="Calibri" panose="020F0502020204030204" pitchFamily="34" charset="0"/>
                <a:cs typeface="B Mitra" panose="00000400000000000000" pitchFamily="2" charset="-78"/>
              </a:rPr>
              <a:t> </a:t>
            </a:r>
            <a:r>
              <a:rPr lang="fa-IR" sz="2400" b="1" kern="100" dirty="0">
                <a:solidFill>
                  <a:srgbClr val="0070C0"/>
                </a:solidFill>
                <a:effectLst/>
                <a:latin typeface="Calibri" panose="020F0502020204030204" pitchFamily="34" charset="0"/>
                <a:ea typeface="Calibri" panose="020F0502020204030204" pitchFamily="34" charset="0"/>
                <a:cs typeface="B Mitra" panose="00000400000000000000" pitchFamily="2" charset="-78"/>
              </a:rPr>
              <a:t>واحد گیره </a:t>
            </a:r>
            <a:r>
              <a:rPr lang="fa-IR" sz="2400" b="1" kern="100" dirty="0">
                <a:solidFill>
                  <a:srgbClr val="0070C0"/>
                </a:solidFill>
                <a:effectLst/>
                <a:latin typeface="Times New Roman" panose="02020603050405020304" pitchFamily="18" charset="0"/>
                <a:ea typeface="Calibri" panose="020F0502020204030204" pitchFamily="34" charset="0"/>
                <a:cs typeface="B Mitra" panose="00000400000000000000" pitchFamily="2" charset="-78"/>
              </a:rPr>
              <a:t>(</a:t>
            </a:r>
            <a:r>
              <a:rPr lang="en-US" sz="2400" b="1" kern="100" dirty="0">
                <a:solidFill>
                  <a:srgbClr val="0070C0"/>
                </a:solidFill>
                <a:effectLst/>
                <a:latin typeface="Times New Roman" panose="02020603050405020304" pitchFamily="18" charset="0"/>
                <a:ea typeface="Calibri" panose="020F0502020204030204" pitchFamily="34" charset="0"/>
                <a:cs typeface="B Mitra" panose="00000400000000000000" pitchFamily="2" charset="-78"/>
              </a:rPr>
              <a:t>clamping or ejection unit</a:t>
            </a:r>
            <a:r>
              <a:rPr lang="fa-IR" sz="2400" b="1" kern="100" dirty="0">
                <a:solidFill>
                  <a:srgbClr val="0070C0"/>
                </a:solidFill>
                <a:effectLst/>
                <a:latin typeface="Times New Roman" panose="02020603050405020304" pitchFamily="18"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fa-IR" sz="1800" kern="100" dirty="0">
                <a:effectLst/>
                <a:latin typeface="Calibri" panose="020F0502020204030204" pitchFamily="34" charset="0"/>
                <a:ea typeface="Calibri" panose="020F0502020204030204" pitchFamily="34" charset="0"/>
                <a:cs typeface="B Mitra" panose="00000400000000000000" pitchFamily="2" charset="-78"/>
              </a:rPr>
              <a:t>واحد گیره</a:t>
            </a:r>
            <a:r>
              <a:rPr lang="ar-SA" sz="1800" kern="100" dirty="0">
                <a:effectLst/>
                <a:latin typeface="Calibri" panose="020F0502020204030204" pitchFamily="34" charset="0"/>
                <a:ea typeface="Calibri" panose="020F0502020204030204" pitchFamily="34" charset="0"/>
                <a:cs typeface="B Mitra" panose="00000400000000000000" pitchFamily="2" charset="-78"/>
              </a:rPr>
              <a:t> وظیفه باز و بسته کردن قالب، جابه‌جایی صفحات و مستحکم نگه داشتن قالب در برابر فشار هیدرولیکی عظیم تزریق را بر عهده دارد. نیروی گیره یا کلمپینگ باید به اندازه‌ای باشد که از ایجاد فلاش (پلیسه) یا باز شدن نیمه‌های قالب جلوگیری کند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fa-IR" sz="1800" kern="100" dirty="0">
                <a:effectLst/>
                <a:latin typeface="Calibri" panose="020F0502020204030204" pitchFamily="34" charset="0"/>
                <a:ea typeface="Calibri" panose="020F0502020204030204" pitchFamily="34" charset="0"/>
                <a:cs typeface="B Mitra" panose="00000400000000000000" pitchFamily="2" charset="-78"/>
              </a:rPr>
              <a:t>اجزای اصلی آن شامل:</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fa-IR" sz="1800" kern="100" dirty="0">
                <a:effectLst/>
                <a:latin typeface="Calibri" panose="020F0502020204030204" pitchFamily="34" charset="0"/>
                <a:ea typeface="Calibri" panose="020F0502020204030204" pitchFamily="34" charset="0"/>
                <a:cs typeface="B Mitra" panose="00000400000000000000" pitchFamily="2" charset="-78"/>
              </a:rPr>
              <a:t>صفحات ثابت و متحرک:</a:t>
            </a:r>
            <a:r>
              <a:rPr lang="ar-SA" sz="1800" kern="100" dirty="0">
                <a:effectLst/>
                <a:latin typeface="Calibri" panose="020F0502020204030204" pitchFamily="34" charset="0"/>
                <a:ea typeface="Calibri" panose="020F0502020204030204" pitchFamily="34" charset="0"/>
                <a:cs typeface="B Mitra" panose="00000400000000000000" pitchFamily="2" charset="-78"/>
              </a:rPr>
              <a:t> نیمه‌های قالب روی این صفحات چدنی/فولادی نصب می‌شوند.</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Symbol" panose="05050102010706020507" pitchFamily="18" charset="2"/>
              <a:buChar char=""/>
            </a:pPr>
            <a:r>
              <a:rPr lang="ar-SA" sz="1800" i="1" kern="100" dirty="0">
                <a:effectLst/>
                <a:latin typeface="Calibri" panose="020F0502020204030204" pitchFamily="34" charset="0"/>
                <a:ea typeface="Calibri" panose="020F0502020204030204" pitchFamily="34" charset="0"/>
                <a:cs typeface="B Mitra" panose="00000400000000000000" pitchFamily="2" charset="-78"/>
              </a:rPr>
              <a:t>صفحه ثابت </a:t>
            </a:r>
            <a:r>
              <a:rPr lang="en-US" sz="1800" kern="100" dirty="0">
                <a:effectLst/>
                <a:latin typeface="Calibri" panose="020F0502020204030204" pitchFamily="34" charset="0"/>
                <a:ea typeface="Calibri" panose="020F0502020204030204" pitchFamily="34" charset="0"/>
                <a:cs typeface="B Mitra" panose="00000400000000000000" pitchFamily="2" charset="-78"/>
              </a:rPr>
              <a:t>(Stationary Platen)</a:t>
            </a:r>
            <a:r>
              <a:rPr lang="en-US" sz="1800" i="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نازل دستگاه به آن متصل می‌شود و نیمه ثابت قالب (سمت تزریق) روی آن پیچ می‌گردد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Symbol" panose="05050102010706020507" pitchFamily="18" charset="2"/>
              <a:buChar char=""/>
            </a:pPr>
            <a:r>
              <a:rPr lang="ar-SA" sz="1800" i="1" kern="100" dirty="0">
                <a:effectLst/>
                <a:latin typeface="Calibri" panose="020F0502020204030204" pitchFamily="34" charset="0"/>
                <a:ea typeface="Calibri" panose="020F0502020204030204" pitchFamily="34" charset="0"/>
                <a:cs typeface="B Mitra" panose="00000400000000000000" pitchFamily="2" charset="-78"/>
              </a:rPr>
              <a:t>صفحه متحرک </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kern="100" dirty="0">
                <a:latin typeface="Calibri" panose="020F0502020204030204" pitchFamily="34" charset="0"/>
                <a:ea typeface="Calibri" panose="020F0502020204030204" pitchFamily="34" charset="0"/>
                <a:cs typeface="B Mitra" panose="00000400000000000000" pitchFamily="2" charset="-78"/>
              </a:rPr>
              <a:t>(Moving Platen)</a:t>
            </a:r>
            <a:r>
              <a:rPr lang="fa-IR" kern="100" dirty="0">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نیمه دیگر قالب روی آن نصب شده و با حرکت این صفحه، قالب باز و بسته می‌شود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startAt="2"/>
            </a:pPr>
            <a:r>
              <a:rPr lang="ar-SA" sz="1800" kern="100" dirty="0">
                <a:effectLst/>
                <a:latin typeface="Calibri" panose="020F0502020204030204" pitchFamily="34" charset="0"/>
                <a:ea typeface="Calibri" panose="020F0502020204030204" pitchFamily="34" charset="0"/>
                <a:cs typeface="B Mitra" panose="00000400000000000000" pitchFamily="2" charset="-78"/>
              </a:rPr>
              <a:t>میله‌های راهنما</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en-US" kern="100" dirty="0">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(Tie Bars) </a:t>
            </a:r>
            <a:r>
              <a:rPr lang="ar-SA" sz="1800" kern="100" dirty="0">
                <a:effectLst/>
                <a:latin typeface="Calibri" panose="020F0502020204030204" pitchFamily="34" charset="0"/>
                <a:ea typeface="Calibri" panose="020F0502020204030204" pitchFamily="34" charset="0"/>
                <a:cs typeface="B Mitra" panose="00000400000000000000" pitchFamily="2" charset="-78"/>
              </a:rPr>
              <a:t>چهار میله فولادی بزرگ که صفحه متحرک روی آن‌ها می‌لغزد و تمام نیروی کششی حاصل از قفل شدن قالب را تحمل می‌کنند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مکانیزم اعمال نیرو:</a:t>
            </a:r>
            <a:r>
              <a:rPr lang="ar-SA" sz="1800" kern="100" dirty="0">
                <a:effectLst/>
                <a:latin typeface="Calibri" panose="020F0502020204030204" pitchFamily="34" charset="0"/>
                <a:ea typeface="Calibri" panose="020F0502020204030204" pitchFamily="34" charset="0"/>
                <a:cs typeface="B Mitra" panose="00000400000000000000" pitchFamily="2" charset="-78"/>
              </a:rPr>
              <a:t> سیستم جابه‌جایی و قفل قالب که معمولاً به دو صورت است:</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Symbol" panose="05050102010706020507" pitchFamily="18" charset="2"/>
              <a:buChar char=""/>
            </a:pPr>
            <a:r>
              <a:rPr lang="fa-IR" sz="1800" kern="100" dirty="0">
                <a:effectLst/>
                <a:latin typeface="Calibri" panose="020F0502020204030204" pitchFamily="34" charset="0"/>
                <a:ea typeface="Calibri" panose="020F0502020204030204" pitchFamily="34" charset="0"/>
                <a:cs typeface="B Mitra" panose="00000400000000000000" pitchFamily="2" charset="-78"/>
              </a:rPr>
              <a:t>سیستم بازو (</a:t>
            </a:r>
            <a:r>
              <a:rPr lang="en-US" sz="1800" kern="100" dirty="0">
                <a:effectLst/>
                <a:latin typeface="Calibri" panose="020F0502020204030204" pitchFamily="34" charset="0"/>
                <a:ea typeface="Calibri" panose="020F0502020204030204" pitchFamily="34" charset="0"/>
                <a:cs typeface="B Mitra" panose="00000400000000000000" pitchFamily="2" charset="-78"/>
              </a:rPr>
              <a:t>Toggle System</a:t>
            </a:r>
            <a:r>
              <a:rPr lang="fa-IR" sz="1800" kern="100" dirty="0">
                <a:effectLst/>
                <a:latin typeface="Calibri" panose="020F0502020204030204" pitchFamily="34" charset="0"/>
                <a:ea typeface="Calibri" panose="020F0502020204030204" pitchFamily="34" charset="0"/>
                <a:cs typeface="B Mitra" panose="00000400000000000000" pitchFamily="2" charset="-78"/>
              </a:rPr>
              <a:t>) یا جک هیدرولیک:</a:t>
            </a:r>
            <a:r>
              <a:rPr lang="ar-SA" sz="1800" kern="100" dirty="0">
                <a:effectLst/>
                <a:latin typeface="Calibri" panose="020F0502020204030204" pitchFamily="34" charset="0"/>
                <a:ea typeface="Calibri" panose="020F0502020204030204" pitchFamily="34" charset="0"/>
                <a:cs typeface="B Mitra" panose="00000400000000000000" pitchFamily="2" charset="-78"/>
              </a:rPr>
              <a:t> برای ایجاد نیروی گیره و حرکت صفحه متحرک</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Symbol" panose="05050102010706020507" pitchFamily="18" charset="2"/>
              <a:buChar char=""/>
            </a:pPr>
            <a:r>
              <a:rPr lang="fa-IR" sz="1800" kern="100" dirty="0">
                <a:effectLst/>
                <a:latin typeface="Calibri" panose="020F0502020204030204" pitchFamily="34" charset="0"/>
                <a:ea typeface="Calibri" panose="020F0502020204030204" pitchFamily="34" charset="0"/>
                <a:cs typeface="B Mitra" panose="00000400000000000000" pitchFamily="2" charset="-78"/>
              </a:rPr>
              <a:t>سیستم پران:</a:t>
            </a:r>
            <a:r>
              <a:rPr lang="ar-SA" sz="1800" kern="100" dirty="0">
                <a:effectLst/>
                <a:latin typeface="Calibri" panose="020F0502020204030204" pitchFamily="34" charset="0"/>
                <a:ea typeface="Calibri" panose="020F0502020204030204" pitchFamily="34" charset="0"/>
                <a:cs typeface="B Mitra" panose="00000400000000000000" pitchFamily="2" charset="-78"/>
              </a:rPr>
              <a:t> پین‌ها یا مکانیزم‌هایی که پس از باز شدن قالب، قطعه را از حفره قالب جدا می‌کنند</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CB92028-8E8D-9365-163E-56030875DB23}"/>
              </a:ext>
            </a:extLst>
          </p:cNvPr>
          <p:cNvPicPr>
            <a:picLocks noChangeAspect="1"/>
          </p:cNvPicPr>
          <p:nvPr/>
        </p:nvPicPr>
        <p:blipFill>
          <a:blip r:embed="rId3"/>
          <a:stretch>
            <a:fillRect/>
          </a:stretch>
        </p:blipFill>
        <p:spPr>
          <a:xfrm>
            <a:off x="487680" y="3847782"/>
            <a:ext cx="2908444" cy="2227897"/>
          </a:xfrm>
          <a:prstGeom prst="rect">
            <a:avLst/>
          </a:prstGeom>
        </p:spPr>
      </p:pic>
      <p:pic>
        <p:nvPicPr>
          <p:cNvPr id="6" name="Picture 5">
            <a:extLst>
              <a:ext uri="{FF2B5EF4-FFF2-40B4-BE49-F238E27FC236}">
                <a16:creationId xmlns:a16="http://schemas.microsoft.com/office/drawing/2014/main" id="{F65B95F6-EB1B-DC29-A294-D20629FB2CF4}"/>
              </a:ext>
            </a:extLst>
          </p:cNvPr>
          <p:cNvPicPr>
            <a:picLocks noChangeAspect="1"/>
          </p:cNvPicPr>
          <p:nvPr/>
        </p:nvPicPr>
        <p:blipFill>
          <a:blip r:embed="rId4"/>
          <a:stretch>
            <a:fillRect/>
          </a:stretch>
        </p:blipFill>
        <p:spPr>
          <a:xfrm>
            <a:off x="750887" y="1822767"/>
            <a:ext cx="4391025" cy="1038225"/>
          </a:xfrm>
          <a:prstGeom prst="rect">
            <a:avLst/>
          </a:prstGeom>
        </p:spPr>
      </p:pic>
    </p:spTree>
    <p:extLst>
      <p:ext uri="{BB962C8B-B14F-4D97-AF65-F5344CB8AC3E}">
        <p14:creationId xmlns:p14="http://schemas.microsoft.com/office/powerpoint/2010/main" val="1441307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1000"/>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A9B2A1-B017-A44C-0F01-94AB732475F1}"/>
              </a:ext>
            </a:extLst>
          </p:cNvPr>
          <p:cNvSpPr txBox="1"/>
          <p:nvPr/>
        </p:nvSpPr>
        <p:spPr>
          <a:xfrm>
            <a:off x="6766560" y="1706356"/>
            <a:ext cx="4785360" cy="3801554"/>
          </a:xfrm>
          <a:prstGeom prst="rect">
            <a:avLst/>
          </a:prstGeom>
          <a:noFill/>
        </p:spPr>
        <p:txBody>
          <a:bodyPr wrap="square">
            <a:spAutoFit/>
          </a:bodyPr>
          <a:lstStyle/>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فرآیند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قالب گیری تزریقی</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شامل یک سیکل پیوسته از چند مرحله کلیدی است که با دقت و زمان‌بندی مشخصی انجام می‌شوند. این سیکل می‌تواند بسته به پیچیدگی قطعه و نوع ماده، از چند ثانیه تا چند دقیقه به طول انجامد.</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مرحله 1: بستن قالب و قفل شدن</a:t>
            </a:r>
            <a:r>
              <a:rPr lang="en-US" sz="1800" b="1" kern="100" dirty="0">
                <a:effectLst/>
                <a:latin typeface="Calibri" panose="020F0502020204030204" pitchFamily="34" charset="0"/>
                <a:ea typeface="Calibri" panose="020F0502020204030204" pitchFamily="34" charset="0"/>
                <a:cs typeface="B Mitra" panose="00000400000000000000" pitchFamily="2" charset="-78"/>
              </a:rPr>
              <a:t> (Clamping)</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در این مرحله، دو نیمه قالب (ثابت و متحرک) به یکدیگر نزدیک شده و با نیروی گیره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(Clamping Force) </a:t>
            </a:r>
            <a:r>
              <a:rPr lang="ar-SA" sz="1800" kern="100" dirty="0">
                <a:effectLst/>
                <a:latin typeface="Calibri" panose="020F0502020204030204" pitchFamily="34" charset="0"/>
                <a:ea typeface="Calibri" panose="020F0502020204030204" pitchFamily="34" charset="0"/>
                <a:cs typeface="B Mitra" panose="00000400000000000000" pitchFamily="2" charset="-78"/>
              </a:rPr>
              <a:t>بسیار بالا به طور محکم قفل می‌شوند. نیروی گیره برای جلوگیری از باز شدن قالب در اثر فشار بالای تزریق مواد مذاب ضروری است. اگر این نیرو کافی نباشد، مواد مذاب می‌توانند از درزهای قالب خارج شده و باعث ایجاد فلاش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(Flash)</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یا پلیسه شوند که یک عیب رایج در</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تولید قطعات پلاستیکی</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است</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ACFD4347-47D8-4896-7FD2-BB65D43AACCF}"/>
              </a:ext>
            </a:extLst>
          </p:cNvPr>
          <p:cNvPicPr>
            <a:picLocks noChangeAspect="1"/>
          </p:cNvPicPr>
          <p:nvPr/>
        </p:nvPicPr>
        <p:blipFill>
          <a:blip r:embed="rId3"/>
          <a:stretch>
            <a:fillRect/>
          </a:stretch>
        </p:blipFill>
        <p:spPr>
          <a:xfrm>
            <a:off x="640080" y="2001520"/>
            <a:ext cx="5577672" cy="2997724"/>
          </a:xfrm>
          <a:prstGeom prst="rect">
            <a:avLst/>
          </a:prstGeom>
        </p:spPr>
      </p:pic>
      <p:sp>
        <p:nvSpPr>
          <p:cNvPr id="9" name="TextBox 8">
            <a:extLst>
              <a:ext uri="{FF2B5EF4-FFF2-40B4-BE49-F238E27FC236}">
                <a16:creationId xmlns:a16="http://schemas.microsoft.com/office/drawing/2014/main" id="{9947A480-982A-B627-618A-4E259CA871B4}"/>
              </a:ext>
            </a:extLst>
          </p:cNvPr>
          <p:cNvSpPr txBox="1"/>
          <p:nvPr/>
        </p:nvSpPr>
        <p:spPr>
          <a:xfrm>
            <a:off x="5455920" y="969991"/>
            <a:ext cx="6096000" cy="503215"/>
          </a:xfrm>
          <a:prstGeom prst="rect">
            <a:avLst/>
          </a:prstGeom>
          <a:noFill/>
        </p:spPr>
        <p:txBody>
          <a:bodyPr wrap="square">
            <a:spAutoFit/>
          </a:bodyPr>
          <a:lstStyle/>
          <a:p>
            <a:pPr algn="just" rtl="1">
              <a:lnSpc>
                <a:spcPct val="115000"/>
              </a:lnSpc>
              <a:spcAft>
                <a:spcPts val="800"/>
              </a:spcAft>
              <a:buNone/>
            </a:pPr>
            <a:r>
              <a:rPr lang="ar-SA" sz="2400" b="1" kern="100" dirty="0">
                <a:solidFill>
                  <a:srgbClr val="0070C0"/>
                </a:solidFill>
                <a:effectLst/>
                <a:latin typeface="Calibri" panose="020F0502020204030204" pitchFamily="34" charset="0"/>
                <a:ea typeface="Calibri" panose="020F0502020204030204" pitchFamily="34" charset="0"/>
                <a:cs typeface="B Titr" panose="00000700000000000000" pitchFamily="2" charset="-78"/>
              </a:rPr>
              <a:t>مراحل فرآیند قالب گیری تزریقی (سیکل تزریق)</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99023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ACC8E4F-A0AF-1554-BC7F-C5BFBF141FBB}"/>
              </a:ext>
            </a:extLst>
          </p:cNvPr>
          <p:cNvSpPr txBox="1"/>
          <p:nvPr/>
        </p:nvSpPr>
        <p:spPr>
          <a:xfrm>
            <a:off x="5689600" y="650966"/>
            <a:ext cx="5709920" cy="2175467"/>
          </a:xfrm>
          <a:prstGeom prst="rect">
            <a:avLst/>
          </a:prstGeom>
          <a:noFill/>
        </p:spPr>
        <p:txBody>
          <a:bodyPr wrap="square">
            <a:spAutoFit/>
          </a:bodyPr>
          <a:lstStyle/>
          <a:p>
            <a:pPr algn="r" rtl="1">
              <a:lnSpc>
                <a:spcPct val="115000"/>
              </a:lnSpc>
              <a:spcAft>
                <a:spcPts val="800"/>
              </a:spcAft>
              <a:buNone/>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مرحله 2: تزریق مواد مذاب </a:t>
            </a:r>
            <a:r>
              <a:rPr lang="en-US" sz="1800" b="1" kern="100" dirty="0">
                <a:effectLst/>
                <a:latin typeface="Calibri" panose="020F0502020204030204" pitchFamily="34" charset="0"/>
                <a:ea typeface="Calibri" panose="020F0502020204030204" pitchFamily="34" charset="0"/>
                <a:cs typeface="B Mitra" panose="00000400000000000000" pitchFamily="2" charset="-78"/>
              </a:rPr>
              <a:t> (</a:t>
            </a:r>
            <a:r>
              <a:rPr lang="en-US" sz="1800" b="1" kern="100" dirty="0">
                <a:effectLst/>
                <a:latin typeface="Times New Roman" panose="02020603050405020304" pitchFamily="18" charset="0"/>
                <a:ea typeface="Calibri" panose="020F0502020204030204" pitchFamily="34" charset="0"/>
                <a:cs typeface="Arial" panose="020B0604020202020204" pitchFamily="34" charset="0"/>
              </a:rPr>
              <a:t>Injection</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r" rtl="1">
              <a:buNone/>
            </a:pPr>
            <a:r>
              <a:rPr lang="ar-SA" sz="1800" dirty="0">
                <a:effectLst/>
                <a:latin typeface="Calibri" panose="020F0502020204030204" pitchFamily="34" charset="0"/>
                <a:ea typeface="Calibri" panose="020F0502020204030204" pitchFamily="34" charset="0"/>
                <a:cs typeface="B Mitra" panose="00000400000000000000" pitchFamily="2" charset="-78"/>
              </a:rPr>
              <a:t>پس از قفل شدن قالب، مارپیچ در واحد تزریق به سمت جلو حرکت کرده و مواد پلاستیکی مذاب را با فشار و سرعت بالا از طریق نازل و راهگاه‌ها به داخل حفره‌های قالب هدایت می‌کند. میزان مواد تزریق شده در هر سیکل را شات</a:t>
            </a:r>
            <a:r>
              <a:rPr lang="ar-SA" sz="1800" dirty="0">
                <a:effectLst/>
                <a:ea typeface="Calibri" panose="020F0502020204030204" pitchFamily="34" charset="0"/>
                <a:cs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(Shot) </a:t>
            </a:r>
            <a:r>
              <a:rPr lang="ar-SA" sz="1800" dirty="0">
                <a:effectLst/>
                <a:latin typeface="Calibri" panose="020F0502020204030204" pitchFamily="34" charset="0"/>
                <a:ea typeface="Calibri" panose="020F0502020204030204" pitchFamily="34" charset="0"/>
                <a:cs typeface="B Mitra" panose="00000400000000000000" pitchFamily="2" charset="-78"/>
              </a:rPr>
              <a:t>می‌نامند. کنترل دقیق فشار و سرعت تزریق در این مرحله برای پر شدن کامل و یکنواخت قالب و جلوگیری از عیوبی مانند پر نشدن قالب</a:t>
            </a:r>
            <a:r>
              <a:rPr lang="ar-SA" sz="1800" dirty="0">
                <a:effectLst/>
                <a:ea typeface="Calibri" panose="020F0502020204030204" pitchFamily="34" charset="0"/>
                <a:cs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(Short Shot)</a:t>
            </a:r>
            <a:r>
              <a:rPr lang="en-US" sz="1800" dirty="0">
                <a:effectLst/>
                <a:latin typeface="Calibri" panose="020F0502020204030204" pitchFamily="34" charset="0"/>
                <a:ea typeface="Calibri" panose="020F0502020204030204" pitchFamily="34" charset="0"/>
                <a:cs typeface="B Mitra" panose="00000400000000000000" pitchFamily="2" charset="-78"/>
              </a:rPr>
              <a:t> </a:t>
            </a:r>
            <a:r>
              <a:rPr lang="ar-SA" sz="1800" dirty="0">
                <a:effectLst/>
                <a:latin typeface="Calibri" panose="020F0502020204030204" pitchFamily="34" charset="0"/>
                <a:ea typeface="Calibri" panose="020F0502020204030204" pitchFamily="34" charset="0"/>
                <a:cs typeface="B Mitra" panose="00000400000000000000" pitchFamily="2" charset="-78"/>
              </a:rPr>
              <a:t>یا خطوط جوش</a:t>
            </a:r>
            <a:r>
              <a:rPr lang="ar-SA" sz="1800" dirty="0">
                <a:effectLst/>
                <a:ea typeface="Calibri" panose="020F0502020204030204" pitchFamily="34" charset="0"/>
                <a:cs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(Weld Lines)</a:t>
            </a:r>
            <a:r>
              <a:rPr lang="en-US" sz="1800" dirty="0">
                <a:effectLst/>
                <a:latin typeface="Calibri" panose="020F0502020204030204" pitchFamily="34" charset="0"/>
                <a:ea typeface="Calibri" panose="020F0502020204030204" pitchFamily="34" charset="0"/>
                <a:cs typeface="B Mitra" panose="00000400000000000000" pitchFamily="2" charset="-78"/>
              </a:rPr>
              <a:t> </a:t>
            </a:r>
            <a:r>
              <a:rPr lang="ar-SA" sz="1800" dirty="0">
                <a:effectLst/>
                <a:latin typeface="Calibri" panose="020F0502020204030204" pitchFamily="34" charset="0"/>
                <a:ea typeface="Calibri" panose="020F0502020204030204" pitchFamily="34" charset="0"/>
                <a:cs typeface="B Mitra" panose="00000400000000000000" pitchFamily="2" charset="-78"/>
              </a:rPr>
              <a:t>حیاتی است</a:t>
            </a:r>
            <a:endParaRPr lang="en-US" dirty="0"/>
          </a:p>
        </p:txBody>
      </p:sp>
      <p:sp>
        <p:nvSpPr>
          <p:cNvPr id="7" name="TextBox 6">
            <a:extLst>
              <a:ext uri="{FF2B5EF4-FFF2-40B4-BE49-F238E27FC236}">
                <a16:creationId xmlns:a16="http://schemas.microsoft.com/office/drawing/2014/main" id="{27673E49-7052-001D-07E1-666BF3CE0DEB}"/>
              </a:ext>
            </a:extLst>
          </p:cNvPr>
          <p:cNvSpPr txBox="1"/>
          <p:nvPr/>
        </p:nvSpPr>
        <p:spPr>
          <a:xfrm>
            <a:off x="5689600" y="3164287"/>
            <a:ext cx="5709920" cy="3164456"/>
          </a:xfrm>
          <a:prstGeom prst="rect">
            <a:avLst/>
          </a:prstGeom>
          <a:noFill/>
        </p:spPr>
        <p:txBody>
          <a:bodyPr wrap="square">
            <a:spAutoFit/>
          </a:bodyPr>
          <a:lstStyle/>
          <a:p>
            <a:pPr algn="just" rtl="1">
              <a:lnSpc>
                <a:spcPct val="115000"/>
              </a:lnSpc>
              <a:spcAft>
                <a:spcPts val="800"/>
              </a:spcAft>
              <a:buNone/>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مرحله 3: نگهداری فشار و خنک‌کاری </a:t>
            </a:r>
            <a:r>
              <a:rPr lang="en-US" sz="1800" b="1" kern="100" dirty="0">
                <a:effectLst/>
                <a:latin typeface="Calibri" panose="020F0502020204030204" pitchFamily="34" charset="0"/>
                <a:ea typeface="Calibri" panose="020F0502020204030204" pitchFamily="34" charset="0"/>
                <a:cs typeface="B Mitra" panose="00000400000000000000" pitchFamily="2" charset="-78"/>
              </a:rPr>
              <a:t> (</a:t>
            </a:r>
            <a:r>
              <a:rPr lang="en-US" sz="1800" b="1" kern="100" dirty="0">
                <a:effectLst/>
                <a:latin typeface="Times New Roman" panose="02020603050405020304" pitchFamily="18" charset="0"/>
                <a:ea typeface="Calibri" panose="020F0502020204030204" pitchFamily="34" charset="0"/>
                <a:cs typeface="Arial" panose="020B0604020202020204" pitchFamily="34" charset="0"/>
              </a:rPr>
              <a:t>Packing &amp; Cooling</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پس از پر شدن حفره قالب، فشار تزریق برای مدت کوتاهی به فشار نگهدارنده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(Packing Pressure)</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کاهش یافته و حفظ می‌شود. این فشار وظیفه جبران انقباض مواد پلاستیکی در حین سرد شدن و اطمینان از پر ماندن کامل حفره را بر عهده دارد. بدون فشار نگهدارنده کافی، قطعه ممکن است دچار فرورفتگی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(Sink Mark)</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یا حباب هوا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(Voids)</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شود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همزمان، سیستم خنک‌کاری قالب (کانال‌های آب سرد) حرارت را از قطعه پلاستیکی می‌گیرد تا مذاب جامد شود. زمان خنک‌کاری به ضخامت قطعه و نوع ماده بستگی دارد و طولانی‌ترین بخش سیکل است که تأثیر مستقیمی بر راندمان تولید دارد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1301A5FE-DA7A-723A-D4CE-6F41FB8D3BC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2973" y="1013142"/>
            <a:ext cx="4501476" cy="2415858"/>
          </a:xfrm>
          <a:prstGeom prst="rect">
            <a:avLst/>
          </a:prstGeom>
          <a:noFill/>
          <a:ln>
            <a:noFill/>
          </a:ln>
        </p:spPr>
      </p:pic>
      <p:pic>
        <p:nvPicPr>
          <p:cNvPr id="9" name="Picture 8">
            <a:extLst>
              <a:ext uri="{FF2B5EF4-FFF2-40B4-BE49-F238E27FC236}">
                <a16:creationId xmlns:a16="http://schemas.microsoft.com/office/drawing/2014/main" id="{76051EB0-7DF6-4D3F-18C5-373B0C07829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2973" y="3913043"/>
            <a:ext cx="4501476" cy="2415700"/>
          </a:xfrm>
          <a:prstGeom prst="rect">
            <a:avLst/>
          </a:prstGeom>
          <a:noFill/>
          <a:ln>
            <a:noFill/>
          </a:ln>
        </p:spPr>
      </p:pic>
    </p:spTree>
    <p:extLst>
      <p:ext uri="{BB962C8B-B14F-4D97-AF65-F5344CB8AC3E}">
        <p14:creationId xmlns:p14="http://schemas.microsoft.com/office/powerpoint/2010/main" val="2587938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22CC8FB-F9E4-1290-98B4-700ECE89CBF8}"/>
              </a:ext>
            </a:extLst>
          </p:cNvPr>
          <p:cNvSpPr txBox="1"/>
          <p:nvPr/>
        </p:nvSpPr>
        <p:spPr>
          <a:xfrm>
            <a:off x="7426960" y="1746537"/>
            <a:ext cx="4196080" cy="3532762"/>
          </a:xfrm>
          <a:prstGeom prst="rect">
            <a:avLst/>
          </a:prstGeom>
          <a:noFill/>
        </p:spPr>
        <p:txBody>
          <a:bodyPr wrap="square">
            <a:spAutoFit/>
          </a:bodyPr>
          <a:lstStyle/>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هنگامی که قطعه پلاستیکی به اندازه کافی سرد و سفت شد، نیروی گیره آزاد شده و نیمه‌های قالب از هم باز می‌شوند. سپس، پین‌های پران </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(Ejector Pins)</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که در پشت نیمه متحرک قالب قرار دارند، به جلو حرکت کرده و قطعه جامد شده را از حفره قالب جدا کرده و به بیرون پرتاب می‌کنند. در برخی موارد، سیستم‌های روباتیک برای برداشتن قطعه و قرار دادن آن در محل مشخص به کار گرفته می‌شوند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buNone/>
            </a:pPr>
            <a:r>
              <a:rPr lang="ar-SA" sz="1800" dirty="0">
                <a:effectLst/>
                <a:latin typeface="Calibri" panose="020F0502020204030204" pitchFamily="34" charset="0"/>
                <a:ea typeface="Calibri" panose="020F0502020204030204" pitchFamily="34" charset="0"/>
                <a:cs typeface="B Mitra" panose="00000400000000000000" pitchFamily="2" charset="-78"/>
              </a:rPr>
              <a:t>با پران قطعه، سیکل</a:t>
            </a:r>
            <a:r>
              <a:rPr lang="en-US" sz="1800" dirty="0">
                <a:effectLst/>
                <a:latin typeface="Calibri" panose="020F0502020204030204" pitchFamily="34" charset="0"/>
                <a:ea typeface="Calibri" panose="020F0502020204030204" pitchFamily="34" charset="0"/>
                <a:cs typeface="B Mitra" panose="00000400000000000000" pitchFamily="2" charset="-78"/>
              </a:rPr>
              <a:t> </a:t>
            </a:r>
            <a:r>
              <a:rPr lang="ar-SA" sz="1800" dirty="0">
                <a:effectLst/>
                <a:latin typeface="Calibri" panose="020F0502020204030204" pitchFamily="34" charset="0"/>
                <a:ea typeface="Calibri" panose="020F0502020204030204" pitchFamily="34" charset="0"/>
                <a:cs typeface="B Mitra" panose="00000400000000000000" pitchFamily="2" charset="-78"/>
              </a:rPr>
              <a:t>قالب گیری تزریقی</a:t>
            </a:r>
            <a:r>
              <a:rPr lang="en-US" sz="1800" dirty="0">
                <a:effectLst/>
                <a:latin typeface="Calibri" panose="020F0502020204030204" pitchFamily="34" charset="0"/>
                <a:ea typeface="Calibri" panose="020F0502020204030204" pitchFamily="34" charset="0"/>
                <a:cs typeface="B Mitra" panose="00000400000000000000" pitchFamily="2" charset="-78"/>
              </a:rPr>
              <a:t> </a:t>
            </a:r>
            <a:r>
              <a:rPr lang="ar-SA" sz="1800" dirty="0">
                <a:effectLst/>
                <a:latin typeface="Calibri" panose="020F0502020204030204" pitchFamily="34" charset="0"/>
                <a:ea typeface="Calibri" panose="020F0502020204030204" pitchFamily="34" charset="0"/>
                <a:cs typeface="B Mitra" panose="00000400000000000000" pitchFamily="2" charset="-78"/>
              </a:rPr>
              <a:t>تکمیل شده و قالب آماده بسته‌شدن و شروع سیکل بعدی است. این فرآیند مکانیزه و تکراری، امکان تولید میلیون‌ها قطعه با کیفیت و ابعاد یکسان را فراهم می‌آورد</a:t>
            </a:r>
            <a:endParaRPr lang="en-US" dirty="0"/>
          </a:p>
        </p:txBody>
      </p:sp>
      <p:pic>
        <p:nvPicPr>
          <p:cNvPr id="6" name="Picture 5">
            <a:extLst>
              <a:ext uri="{FF2B5EF4-FFF2-40B4-BE49-F238E27FC236}">
                <a16:creationId xmlns:a16="http://schemas.microsoft.com/office/drawing/2014/main" id="{FC679CC1-151F-F82C-B86D-09487EA645A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8960" y="1943009"/>
            <a:ext cx="6217631" cy="3336290"/>
          </a:xfrm>
          <a:prstGeom prst="rect">
            <a:avLst/>
          </a:prstGeom>
          <a:noFill/>
          <a:ln>
            <a:noFill/>
          </a:ln>
        </p:spPr>
      </p:pic>
      <p:sp>
        <p:nvSpPr>
          <p:cNvPr id="9" name="TextBox 8">
            <a:extLst>
              <a:ext uri="{FF2B5EF4-FFF2-40B4-BE49-F238E27FC236}">
                <a16:creationId xmlns:a16="http://schemas.microsoft.com/office/drawing/2014/main" id="{AC65EBD7-3F6E-07D6-6914-38D6D2F118A3}"/>
              </a:ext>
            </a:extLst>
          </p:cNvPr>
          <p:cNvSpPr txBox="1"/>
          <p:nvPr/>
        </p:nvSpPr>
        <p:spPr>
          <a:xfrm>
            <a:off x="5527040" y="1167819"/>
            <a:ext cx="6096000" cy="410882"/>
          </a:xfrm>
          <a:prstGeom prst="rect">
            <a:avLst/>
          </a:prstGeom>
          <a:noFill/>
        </p:spPr>
        <p:txBody>
          <a:bodyPr wrap="square">
            <a:spAutoFit/>
          </a:bodyPr>
          <a:lstStyle/>
          <a:p>
            <a:pPr algn="r" rtl="1">
              <a:lnSpc>
                <a:spcPct val="115000"/>
              </a:lnSpc>
              <a:spcAft>
                <a:spcPts val="800"/>
              </a:spcAft>
              <a:buNone/>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مرحله 4: باز کردن قالب و پران قطعه </a:t>
            </a:r>
            <a:r>
              <a:rPr lang="en-US" sz="1800" b="1" kern="100" dirty="0">
                <a:effectLst/>
                <a:latin typeface="Times New Roman" panose="02020603050405020304" pitchFamily="18" charset="0"/>
                <a:ea typeface="Calibri" panose="020F0502020204030204" pitchFamily="34" charset="0"/>
                <a:cs typeface="Arial" panose="020B0604020202020204" pitchFamily="34" charset="0"/>
              </a:rPr>
              <a:t>(Mold Opening &amp; Ejection)</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730339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BF387F-63B5-FCF4-1EAE-18109305ED9D}"/>
              </a:ext>
            </a:extLst>
          </p:cNvPr>
          <p:cNvSpPr txBox="1"/>
          <p:nvPr/>
        </p:nvSpPr>
        <p:spPr>
          <a:xfrm>
            <a:off x="4170556" y="211873"/>
            <a:ext cx="7738947" cy="523220"/>
          </a:xfrm>
          <a:prstGeom prst="rect">
            <a:avLst/>
          </a:prstGeom>
          <a:noFill/>
        </p:spPr>
        <p:txBody>
          <a:bodyPr wrap="square" rtlCol="0">
            <a:spAutoFit/>
          </a:bodyPr>
          <a:lstStyle/>
          <a:p>
            <a:pPr algn="r"/>
            <a:r>
              <a:rPr lang="ar-SA" sz="2800" dirty="0">
                <a:solidFill>
                  <a:srgbClr val="0070C0"/>
                </a:solidFill>
                <a:cs typeface="B Titr" panose="00000700000000000000" pitchFamily="2" charset="-78"/>
              </a:rPr>
              <a:t>رفتار رئولوژیکی مذاب پلیمرها در قالب‌گیری تزریقی</a:t>
            </a:r>
            <a:endParaRPr lang="en-US" sz="2800" dirty="0">
              <a:solidFill>
                <a:srgbClr val="0070C0"/>
              </a:solidFill>
              <a:cs typeface="B Titr" panose="00000700000000000000" pitchFamily="2" charset="-78"/>
            </a:endParaRPr>
          </a:p>
        </p:txBody>
      </p:sp>
      <p:sp>
        <p:nvSpPr>
          <p:cNvPr id="3" name="TextBox 2">
            <a:extLst>
              <a:ext uri="{FF2B5EF4-FFF2-40B4-BE49-F238E27FC236}">
                <a16:creationId xmlns:a16="http://schemas.microsoft.com/office/drawing/2014/main" id="{3434146C-814F-163E-C121-071B8CE8B97E}"/>
              </a:ext>
            </a:extLst>
          </p:cNvPr>
          <p:cNvSpPr txBox="1"/>
          <p:nvPr/>
        </p:nvSpPr>
        <p:spPr>
          <a:xfrm>
            <a:off x="2040673" y="951189"/>
            <a:ext cx="9868830" cy="369332"/>
          </a:xfrm>
          <a:prstGeom prst="rect">
            <a:avLst/>
          </a:prstGeom>
          <a:noFill/>
        </p:spPr>
        <p:txBody>
          <a:bodyPr wrap="square" rtlCol="0">
            <a:spAutoFit/>
          </a:bodyPr>
          <a:lstStyle/>
          <a:p>
            <a:pPr algn="r" rtl="1"/>
            <a:r>
              <a:rPr lang="ar-SA" dirty="0"/>
              <a:t>پلیمرها در حالت مذاب، سیالات غیرنیوتنی</a:t>
            </a:r>
            <a:r>
              <a:rPr lang="en-US" dirty="0"/>
              <a:t> (Non-Newtonian Fluids) </a:t>
            </a:r>
            <a:r>
              <a:rPr lang="ar-SA" dirty="0"/>
              <a:t>از نوع شبه‌پلاستیک</a:t>
            </a:r>
            <a:r>
              <a:rPr lang="en-US" dirty="0"/>
              <a:t> (Pseudoplastic) </a:t>
            </a:r>
            <a:r>
              <a:rPr lang="ar-SA" dirty="0"/>
              <a:t>هستند</a:t>
            </a:r>
            <a:endParaRPr lang="en-US" dirty="0"/>
          </a:p>
        </p:txBody>
      </p:sp>
      <p:sp>
        <p:nvSpPr>
          <p:cNvPr id="4" name="TextBox 3">
            <a:extLst>
              <a:ext uri="{FF2B5EF4-FFF2-40B4-BE49-F238E27FC236}">
                <a16:creationId xmlns:a16="http://schemas.microsoft.com/office/drawing/2014/main" id="{55280D57-0A57-2144-A490-601D2C31A47C}"/>
              </a:ext>
            </a:extLst>
          </p:cNvPr>
          <p:cNvSpPr txBox="1"/>
          <p:nvPr/>
        </p:nvSpPr>
        <p:spPr>
          <a:xfrm>
            <a:off x="1070517" y="1536617"/>
            <a:ext cx="10838986" cy="2308324"/>
          </a:xfrm>
          <a:prstGeom prst="rect">
            <a:avLst/>
          </a:prstGeom>
          <a:noFill/>
        </p:spPr>
        <p:txBody>
          <a:bodyPr wrap="square" rtlCol="0">
            <a:spAutoFit/>
          </a:bodyPr>
          <a:lstStyle/>
          <a:p>
            <a:pPr algn="r" rtl="1"/>
            <a:r>
              <a:rPr lang="ar-SA" b="1" dirty="0"/>
              <a:t>مکانیزم مولکولی و رقیق‌شدگی برشی</a:t>
            </a:r>
            <a:r>
              <a:rPr lang="fa-IR" b="1" dirty="0"/>
              <a:t>(</a:t>
            </a:r>
            <a:r>
              <a:rPr lang="en-US" b="1" dirty="0"/>
              <a:t>Shear Thinning</a:t>
            </a:r>
            <a:r>
              <a:rPr lang="fa-IR" b="1" dirty="0"/>
              <a:t>):</a:t>
            </a:r>
            <a:endParaRPr lang="en-US" dirty="0"/>
          </a:p>
          <a:p>
            <a:pPr algn="just" rtl="1"/>
            <a:r>
              <a:rPr lang="fa-IR" dirty="0"/>
              <a:t> </a:t>
            </a:r>
            <a:r>
              <a:rPr lang="ar-SA" dirty="0"/>
              <a:t>در حالت سکون، زنجیره‌های بلند پلیمری کاملاً در هم گره خورده‌اند</a:t>
            </a:r>
            <a:r>
              <a:rPr lang="en-US" dirty="0"/>
              <a:t> (Entanglement) </a:t>
            </a:r>
            <a:r>
              <a:rPr lang="ar-SA" dirty="0"/>
              <a:t>و این درهم‌تنیدگی باعث بالا رفتن شدید ویسکوزیته می‌شود. اما وقتی مارپیچ دستگاه با سرعت و فشار زیاد، مذاب را از نازل و کانال‌های باریک قالب عبور می‌دهد، نرخ برش</a:t>
            </a:r>
            <a:r>
              <a:rPr lang="en-US" dirty="0"/>
              <a:t> (Shear Rate) </a:t>
            </a:r>
            <a:r>
              <a:rPr lang="ar-SA" dirty="0"/>
              <a:t>به شدت بالا می‌رود. این تنش برشی باعث می‌شود گره‌های زنجیره‌ها باز شده و همگی در راستای جریان آرایش بگیرند و گره خوردگی به شدت کم میشود. در نتیجه، ویسکوزیته به شدت افت می‌کند</a:t>
            </a:r>
            <a:r>
              <a:rPr lang="en-US" dirty="0"/>
              <a:t>.</a:t>
            </a:r>
          </a:p>
          <a:p>
            <a:pPr algn="just" rtl="1"/>
            <a:r>
              <a:rPr lang="ar-SA" dirty="0"/>
              <a:t>این پدیده در فرآیند تزریق پلاستیک حیاتی است. اگر مذاب پلیمر این رفتار را از خود نشان نمی‌داد، برای پر کردن قالب‌های پیچیده و نازک به فشارهای تزریق نجومی و غیرممکنی نیاز داشتیم. اما به لطف پدیده رقیق‌شدگی برشی، با افزایش سرعت تزریق، ویسکوزیته مواد کاهش یافته و مذاب بسیار راحت‌تر و روان‌تر حفره‌های قالب را پر می‌کند</a:t>
            </a:r>
            <a:endParaRPr lang="en-US" dirty="0"/>
          </a:p>
        </p:txBody>
      </p:sp>
      <p:sp>
        <p:nvSpPr>
          <p:cNvPr id="5" name="TextBox 4">
            <a:extLst>
              <a:ext uri="{FF2B5EF4-FFF2-40B4-BE49-F238E27FC236}">
                <a16:creationId xmlns:a16="http://schemas.microsoft.com/office/drawing/2014/main" id="{2240102B-AB6B-DD5A-C816-A2CFBCD27AB4}"/>
              </a:ext>
            </a:extLst>
          </p:cNvPr>
          <p:cNvSpPr txBox="1"/>
          <p:nvPr/>
        </p:nvSpPr>
        <p:spPr>
          <a:xfrm>
            <a:off x="1070517" y="4371278"/>
            <a:ext cx="10838986" cy="1754326"/>
          </a:xfrm>
          <a:prstGeom prst="rect">
            <a:avLst/>
          </a:prstGeom>
          <a:noFill/>
        </p:spPr>
        <p:txBody>
          <a:bodyPr wrap="square" rtlCol="0">
            <a:spAutoFit/>
          </a:bodyPr>
          <a:lstStyle/>
          <a:p>
            <a:pPr algn="r" rtl="1"/>
            <a:r>
              <a:rPr lang="ar-SA" b="1" dirty="0"/>
              <a:t>اثر توزیع وزن مولکولی</a:t>
            </a:r>
            <a:r>
              <a:rPr lang="en-US" b="1" dirty="0"/>
              <a:t> (MWD) </a:t>
            </a:r>
            <a:r>
              <a:rPr lang="ar-SA" b="1" dirty="0"/>
              <a:t>بر رفتار رئولوژیکی:</a:t>
            </a:r>
            <a:endParaRPr lang="en-US" dirty="0"/>
          </a:p>
          <a:p>
            <a:pPr algn="just" rtl="1"/>
            <a:r>
              <a:rPr lang="ar-SA" dirty="0"/>
              <a:t>در فرآیند قالب‌گیری تزریقی، استفاده از پلیمرهایی با توزیع وزن مولکولی باریک</a:t>
            </a:r>
            <a:r>
              <a:rPr lang="en-US" dirty="0"/>
              <a:t> (Narrow Molecular Weight Distribution) </a:t>
            </a:r>
            <a:r>
              <a:rPr lang="ar-SA" dirty="0"/>
              <a:t>بسیار مطلوب است. هنگامی که توزیع وزن مولکولی باریک باشد، زنجیر ها همسان تر هستند،گره ها شبیه تر بهم هستند. این یک باعث می‌شود که در یک نرخ برش مشخص، گره‌های زنجیر‌ها به صورت هم‌زمان و ناگهانی باز شوند. این پدیده منجر به افت شدید ویسکوزیته در سراسر جریان مذاب شده و پایداری فرآیند تزریق، یکنواخت پر شدن قالب و کاهش تنش‌های پسماند در قطعه نهایی را تضمین می‌کند</a:t>
            </a:r>
            <a:r>
              <a:rPr lang="en-US" dirty="0"/>
              <a:t>.</a:t>
            </a:r>
          </a:p>
          <a:p>
            <a:pPr algn="r" rtl="1"/>
            <a:endParaRPr lang="en-US" dirty="0"/>
          </a:p>
        </p:txBody>
      </p:sp>
    </p:spTree>
    <p:extLst>
      <p:ext uri="{BB962C8B-B14F-4D97-AF65-F5344CB8AC3E}">
        <p14:creationId xmlns:p14="http://schemas.microsoft.com/office/powerpoint/2010/main" val="38505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
            <a:lum/>
          </a:blip>
          <a:srcRect/>
          <a:stretch>
            <a:fillRect/>
          </a:stretch>
        </a:blipFill>
        <a:effectLst/>
      </p:bgPr>
    </p:bg>
    <p:spTree>
      <p:nvGrpSpPr>
        <p:cNvPr id="1" name="">
          <a:extLst>
            <a:ext uri="{FF2B5EF4-FFF2-40B4-BE49-F238E27FC236}">
              <a16:creationId xmlns:a16="http://schemas.microsoft.com/office/drawing/2014/main" id="{1153C677-91B4-BCCF-97FA-DBBD892F61F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E0AA448-C5E1-88D2-60BF-F69058CC46D1}"/>
              </a:ext>
            </a:extLst>
          </p:cNvPr>
          <p:cNvSpPr txBox="1"/>
          <p:nvPr/>
        </p:nvSpPr>
        <p:spPr>
          <a:xfrm>
            <a:off x="3668753" y="189569"/>
            <a:ext cx="8069766" cy="523220"/>
          </a:xfrm>
          <a:prstGeom prst="rect">
            <a:avLst/>
          </a:prstGeom>
          <a:noFill/>
        </p:spPr>
        <p:txBody>
          <a:bodyPr wrap="square" rtlCol="0">
            <a:spAutoFit/>
          </a:bodyPr>
          <a:lstStyle/>
          <a:p>
            <a:pPr algn="r"/>
            <a:r>
              <a:rPr lang="ar-SA" sz="2800" dirty="0">
                <a:solidFill>
                  <a:srgbClr val="0070C0"/>
                </a:solidFill>
                <a:cs typeface="B Titr" panose="00000700000000000000" pitchFamily="2" charset="-78"/>
              </a:rPr>
              <a:t>پارامترهای کلیدی و تنظیمی در فرآیند قالب‌گیری تزریقی</a:t>
            </a:r>
            <a:endParaRPr lang="en-US" sz="2800" dirty="0">
              <a:solidFill>
                <a:srgbClr val="0070C0"/>
              </a:solidFill>
              <a:cs typeface="B Titr" panose="00000700000000000000" pitchFamily="2" charset="-78"/>
            </a:endParaRPr>
          </a:p>
        </p:txBody>
      </p:sp>
      <p:sp>
        <p:nvSpPr>
          <p:cNvPr id="3" name="TextBox 2">
            <a:extLst>
              <a:ext uri="{FF2B5EF4-FFF2-40B4-BE49-F238E27FC236}">
                <a16:creationId xmlns:a16="http://schemas.microsoft.com/office/drawing/2014/main" id="{D2793D2D-3E3D-32F1-B78A-0A20992BAC77}"/>
              </a:ext>
            </a:extLst>
          </p:cNvPr>
          <p:cNvSpPr txBox="1"/>
          <p:nvPr/>
        </p:nvSpPr>
        <p:spPr>
          <a:xfrm>
            <a:off x="9456234" y="963910"/>
            <a:ext cx="2129883" cy="369332"/>
          </a:xfrm>
          <a:prstGeom prst="rect">
            <a:avLst/>
          </a:prstGeom>
          <a:noFill/>
        </p:spPr>
        <p:txBody>
          <a:bodyPr wrap="square" rtlCol="0">
            <a:spAutoFit/>
          </a:bodyPr>
          <a:lstStyle/>
          <a:p>
            <a:pPr algn="r" rtl="1"/>
            <a:r>
              <a:rPr lang="fa-IR" dirty="0">
                <a:solidFill>
                  <a:srgbClr val="C00000"/>
                </a:solidFill>
                <a:cs typeface="B Mitra" panose="00000400000000000000" pitchFamily="2" charset="-78"/>
              </a:rPr>
              <a:t>1-دما(</a:t>
            </a:r>
            <a:r>
              <a:rPr lang="en-US" dirty="0">
                <a:solidFill>
                  <a:srgbClr val="C00000"/>
                </a:solidFill>
                <a:cs typeface="B Mitra" panose="00000400000000000000" pitchFamily="2" charset="-78"/>
              </a:rPr>
              <a:t>Temperature</a:t>
            </a:r>
            <a:r>
              <a:rPr lang="fa-IR" dirty="0">
                <a:solidFill>
                  <a:srgbClr val="C00000"/>
                </a:solidFill>
                <a:cs typeface="B Mitra" panose="00000400000000000000" pitchFamily="2" charset="-78"/>
              </a:rPr>
              <a:t>):</a:t>
            </a:r>
            <a:endParaRPr lang="en-US" dirty="0">
              <a:solidFill>
                <a:srgbClr val="C00000"/>
              </a:solidFill>
              <a:cs typeface="B Mitra" panose="00000400000000000000" pitchFamily="2" charset="-78"/>
            </a:endParaRPr>
          </a:p>
        </p:txBody>
      </p:sp>
      <p:sp>
        <p:nvSpPr>
          <p:cNvPr id="7" name="TextBox 6">
            <a:extLst>
              <a:ext uri="{FF2B5EF4-FFF2-40B4-BE49-F238E27FC236}">
                <a16:creationId xmlns:a16="http://schemas.microsoft.com/office/drawing/2014/main" id="{8201A3B3-07C0-4DC5-78DB-B40F1728991F}"/>
              </a:ext>
            </a:extLst>
          </p:cNvPr>
          <p:cNvSpPr txBox="1"/>
          <p:nvPr/>
        </p:nvSpPr>
        <p:spPr>
          <a:xfrm>
            <a:off x="544552" y="1528605"/>
            <a:ext cx="11102896" cy="2031325"/>
          </a:xfrm>
          <a:prstGeom prst="rect">
            <a:avLst/>
          </a:prstGeom>
          <a:noFill/>
        </p:spPr>
        <p:txBody>
          <a:bodyPr wrap="square" rtlCol="0">
            <a:spAutoFit/>
          </a:bodyPr>
          <a:lstStyle/>
          <a:p>
            <a:pPr algn="r" rtl="1"/>
            <a:r>
              <a:rPr lang="ar-SA" dirty="0">
                <a:cs typeface="B Mitra" panose="00000400000000000000" pitchFamily="2" charset="-78"/>
              </a:rPr>
              <a:t>این دما توسط المنت‌های حرارتی روی سیلندر و تنش برشی ناشی از چرخش مارپیچ تأمین می‌شود. دمای سیلندر باید بالاتر از دمای ذوب</a:t>
            </a:r>
            <a:r>
              <a:rPr lang="en-US" dirty="0">
                <a:cs typeface="B Mitra" panose="00000400000000000000" pitchFamily="2" charset="-78"/>
              </a:rPr>
              <a:t> (Tm) </a:t>
            </a:r>
            <a:r>
              <a:rPr lang="ar-SA" dirty="0">
                <a:cs typeface="B Mitra" panose="00000400000000000000" pitchFamily="2" charset="-78"/>
              </a:rPr>
              <a:t>در پلیمرهای نیمه‌بلورین یا دمای انتقال شیشه‌ای</a:t>
            </a:r>
            <a:r>
              <a:rPr lang="en-US" dirty="0">
                <a:cs typeface="B Mitra" panose="00000400000000000000" pitchFamily="2" charset="-78"/>
              </a:rPr>
              <a:t> (</a:t>
            </a:r>
            <a:r>
              <a:rPr lang="en-US" dirty="0" err="1">
                <a:cs typeface="B Mitra" panose="00000400000000000000" pitchFamily="2" charset="-78"/>
              </a:rPr>
              <a:t>Tg</a:t>
            </a:r>
            <a:r>
              <a:rPr lang="en-US" dirty="0">
                <a:cs typeface="B Mitra" panose="00000400000000000000" pitchFamily="2" charset="-78"/>
              </a:rPr>
              <a:t>) </a:t>
            </a:r>
            <a:r>
              <a:rPr lang="ar-SA" dirty="0">
                <a:cs typeface="B Mitra" panose="00000400000000000000" pitchFamily="2" charset="-78"/>
              </a:rPr>
              <a:t>در پلیمرهای آمورف باشد</a:t>
            </a:r>
            <a:endParaRPr lang="en-US" dirty="0">
              <a:cs typeface="B Mitra" panose="00000400000000000000" pitchFamily="2" charset="-78"/>
            </a:endParaRPr>
          </a:p>
          <a:p>
            <a:pPr algn="r" rtl="1"/>
            <a:r>
              <a:rPr lang="ar-SA" dirty="0">
                <a:cs typeface="B Mitra" panose="00000400000000000000" pitchFamily="2" charset="-78"/>
              </a:rPr>
              <a:t>اگر دمای ذوب خیلی پایین باشد، گرانروی ماده بالا رفته و قالب به درستی پر نمی‌شود؛ اگر خیلی بالا باشد، پلیمر دچار تخریب حرارتی، شکست زنجیره‌ها و افت شدید خواص مکانیکی می‌شود</a:t>
            </a:r>
            <a:r>
              <a:rPr lang="en-US" dirty="0">
                <a:cs typeface="B Mitra" panose="00000400000000000000" pitchFamily="2" charset="-78"/>
              </a:rPr>
              <a:t>.</a:t>
            </a:r>
          </a:p>
          <a:p>
            <a:pPr algn="r" rtl="1"/>
            <a:r>
              <a:rPr lang="ar-SA" dirty="0">
                <a:cs typeface="B Mitra" panose="00000400000000000000" pitchFamily="2" charset="-78"/>
              </a:rPr>
              <a:t>دمای قالب</a:t>
            </a:r>
            <a:r>
              <a:rPr lang="en-US" dirty="0">
                <a:cs typeface="B Mitra" panose="00000400000000000000" pitchFamily="2" charset="-78"/>
              </a:rPr>
              <a:t>: </a:t>
            </a:r>
            <a:r>
              <a:rPr lang="ar-SA" dirty="0">
                <a:cs typeface="B Mitra" panose="00000400000000000000" pitchFamily="2" charset="-78"/>
              </a:rPr>
              <a:t>دمایی است که توسط سیال خنک‌کننده (عموماً آب) درون کانال‌های قالب تنظیم می‌شود</a:t>
            </a:r>
            <a:r>
              <a:rPr lang="en-US" dirty="0">
                <a:cs typeface="B Mitra" panose="00000400000000000000" pitchFamily="2" charset="-78"/>
              </a:rPr>
              <a:t>. </a:t>
            </a:r>
            <a:r>
              <a:rPr lang="ar-SA" dirty="0">
                <a:cs typeface="B Mitra" panose="00000400000000000000" pitchFamily="2" charset="-78"/>
              </a:rPr>
              <a:t>دمای قالب بر سرعت خنک‌کاری، کیفیت سطح و مهم‌تر از همه، میزان بلورینگی پلیمرهای نیمه‌بلورین اثر مستقیم دارد</a:t>
            </a:r>
            <a:r>
              <a:rPr lang="en-US" dirty="0"/>
              <a:t>.</a:t>
            </a:r>
          </a:p>
          <a:p>
            <a:pPr algn="r" rtl="1"/>
            <a:endParaRPr lang="en-US" dirty="0"/>
          </a:p>
        </p:txBody>
      </p:sp>
      <p:sp>
        <p:nvSpPr>
          <p:cNvPr id="10" name="TextBox 9">
            <a:extLst>
              <a:ext uri="{FF2B5EF4-FFF2-40B4-BE49-F238E27FC236}">
                <a16:creationId xmlns:a16="http://schemas.microsoft.com/office/drawing/2014/main" id="{6778F03B-7DD1-67C6-E08D-3BF5A229E612}"/>
              </a:ext>
            </a:extLst>
          </p:cNvPr>
          <p:cNvSpPr txBox="1"/>
          <p:nvPr/>
        </p:nvSpPr>
        <p:spPr>
          <a:xfrm>
            <a:off x="635623" y="3559930"/>
            <a:ext cx="11102896" cy="2308324"/>
          </a:xfrm>
          <a:prstGeom prst="rect">
            <a:avLst/>
          </a:prstGeom>
          <a:noFill/>
        </p:spPr>
        <p:txBody>
          <a:bodyPr wrap="square" rtlCol="0">
            <a:spAutoFit/>
          </a:bodyPr>
          <a:lstStyle/>
          <a:p>
            <a:pPr algn="just" rtl="1"/>
            <a:r>
              <a:rPr lang="ar-SA" dirty="0">
                <a:cs typeface="B Mitra" panose="00000400000000000000" pitchFamily="2" charset="-78"/>
              </a:rPr>
              <a:t>سینتیک تبلور به شدت تابع سرعت سرمایش است که توسط اختلاف دمای مذاب و دمای دیواره‌ی قالب کنترل می‌شود</a:t>
            </a:r>
            <a:r>
              <a:rPr lang="en-US" dirty="0">
                <a:cs typeface="B Mitra" panose="00000400000000000000" pitchFamily="2" charset="-78"/>
              </a:rPr>
              <a:t>:</a:t>
            </a:r>
          </a:p>
          <a:p>
            <a:pPr marL="285750" lvl="0" indent="-285750" algn="just" rtl="1">
              <a:buFont typeface="Arial" panose="020B0604020202020204" pitchFamily="34" charset="0"/>
              <a:buChar char="•"/>
            </a:pPr>
            <a:r>
              <a:rPr lang="ar-SA" dirty="0">
                <a:cs typeface="B Mitra" panose="00000400000000000000" pitchFamily="2" charset="-78"/>
              </a:rPr>
              <a:t>سرمایش بسیار سریع</a:t>
            </a:r>
            <a:r>
              <a:rPr lang="en-US" dirty="0">
                <a:cs typeface="B Mitra" panose="00000400000000000000" pitchFamily="2" charset="-78"/>
              </a:rPr>
              <a:t>: </a:t>
            </a:r>
            <a:r>
              <a:rPr lang="ar-SA" dirty="0">
                <a:cs typeface="B Mitra" panose="00000400000000000000" pitchFamily="2" charset="-78"/>
              </a:rPr>
              <a:t>اگر دمای قالب پایین باشد، مایه مذاب به سرعت منجمد می‌شود. در این حالت، ماکرومولکول‌ها فرصت و زمان کافی برای آرایش‌یافتگی مجدد، تشکیل </a:t>
            </a:r>
            <a:r>
              <a:rPr lang="en-US" dirty="0">
                <a:cs typeface="B Mitra" panose="00000400000000000000" pitchFamily="2" charset="-78"/>
              </a:rPr>
              <a:t>(Lamellae) </a:t>
            </a:r>
            <a:r>
              <a:rPr lang="ar-SA" dirty="0">
                <a:cs typeface="B Mitra" panose="00000400000000000000" pitchFamily="2" charset="-78"/>
              </a:rPr>
              <a:t>یا گویچه ها</a:t>
            </a:r>
            <a:r>
              <a:rPr lang="en-US" dirty="0">
                <a:cs typeface="B Mitra" panose="00000400000000000000" pitchFamily="2" charset="-78"/>
              </a:rPr>
              <a:t> (Spherulites) </a:t>
            </a:r>
            <a:r>
              <a:rPr lang="ar-SA" dirty="0">
                <a:cs typeface="B Mitra" panose="00000400000000000000" pitchFamily="2" charset="-78"/>
              </a:rPr>
              <a:t>را ندارند. در نتیجه، درصد بلورینگی نهایی کاهش یافته، قطعه بیشتر ساختار آمورف به خود می‌گیرد، شفافیت نوری آن افزایش می‌یابد اما استحکام تسلیم و سختی آن کمتر می‌شود</a:t>
            </a:r>
            <a:r>
              <a:rPr lang="en-US" dirty="0">
                <a:cs typeface="B Mitra" panose="00000400000000000000" pitchFamily="2" charset="-78"/>
              </a:rPr>
              <a:t>.</a:t>
            </a:r>
            <a:endParaRPr lang="fa-IR" dirty="0">
              <a:cs typeface="B Mitra" panose="00000400000000000000" pitchFamily="2" charset="-78"/>
            </a:endParaRPr>
          </a:p>
          <a:p>
            <a:pPr marL="285750" lvl="0" indent="-285750" algn="just" rtl="1">
              <a:buFont typeface="Arial" panose="020B0604020202020204" pitchFamily="34" charset="0"/>
              <a:buChar char="•"/>
            </a:pPr>
            <a:endParaRPr lang="en-US" dirty="0">
              <a:cs typeface="B Mitra" panose="00000400000000000000" pitchFamily="2" charset="-78"/>
            </a:endParaRPr>
          </a:p>
          <a:p>
            <a:pPr marL="285750" indent="-285750" algn="just" rtl="1">
              <a:buFont typeface="Arial" panose="020B0604020202020204" pitchFamily="34" charset="0"/>
              <a:buChar char="•"/>
            </a:pPr>
            <a:r>
              <a:rPr lang="ar-SA" dirty="0">
                <a:cs typeface="B Mitra" panose="00000400000000000000" pitchFamily="2" charset="-78"/>
              </a:rPr>
              <a:t>سرمایش آهسته</a:t>
            </a:r>
            <a:r>
              <a:rPr lang="en-US" dirty="0">
                <a:cs typeface="B Mitra" panose="00000400000000000000" pitchFamily="2" charset="-78"/>
              </a:rPr>
              <a:t>: </a:t>
            </a:r>
            <a:r>
              <a:rPr lang="ar-SA" dirty="0">
                <a:cs typeface="B Mitra" panose="00000400000000000000" pitchFamily="2" charset="-78"/>
              </a:rPr>
              <a:t>اگر قالب گرم‌تر باشد، سرعت خنک‌کاری کاهش می‌یابد. زنجیره‌ها زمان کافی برای خوشه‌بندی و ایجاد فاز بلوری منظم را خواهند داشت. این امر درصد بلورینگی را بالا برده که منجر به افزایش استحکام مکانیکی، مقاومت حرارتی و مقاومت شیمیایی قطعه می‌شود، اما میزان انقباض</a:t>
            </a:r>
            <a:r>
              <a:rPr lang="en-US" dirty="0">
                <a:cs typeface="B Mitra" panose="00000400000000000000" pitchFamily="2" charset="-78"/>
              </a:rPr>
              <a:t> (Shrinkage) </a:t>
            </a:r>
            <a:r>
              <a:rPr lang="ar-SA" dirty="0">
                <a:cs typeface="B Mitra" panose="00000400000000000000" pitchFamily="2" charset="-78"/>
              </a:rPr>
              <a:t>و کدر شدن قطعه را افزایش می‌دهد</a:t>
            </a:r>
            <a:endParaRPr lang="en-US" dirty="0">
              <a:cs typeface="B Mitra" panose="00000400000000000000" pitchFamily="2" charset="-78"/>
            </a:endParaRPr>
          </a:p>
        </p:txBody>
      </p:sp>
    </p:spTree>
    <p:extLst>
      <p:ext uri="{BB962C8B-B14F-4D97-AF65-F5344CB8AC3E}">
        <p14:creationId xmlns:p14="http://schemas.microsoft.com/office/powerpoint/2010/main" val="4062318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F510B3-0155-B687-3538-C67093C2BD16}"/>
              </a:ext>
            </a:extLst>
          </p:cNvPr>
          <p:cNvSpPr txBox="1"/>
          <p:nvPr/>
        </p:nvSpPr>
        <p:spPr>
          <a:xfrm>
            <a:off x="3668753" y="189569"/>
            <a:ext cx="8069766" cy="523220"/>
          </a:xfrm>
          <a:prstGeom prst="rect">
            <a:avLst/>
          </a:prstGeom>
          <a:noFill/>
        </p:spPr>
        <p:txBody>
          <a:bodyPr wrap="square" rtlCol="0">
            <a:spAutoFit/>
          </a:bodyPr>
          <a:lstStyle/>
          <a:p>
            <a:pPr algn="r"/>
            <a:r>
              <a:rPr lang="ar-SA" sz="2800" dirty="0">
                <a:solidFill>
                  <a:srgbClr val="0070C0"/>
                </a:solidFill>
                <a:cs typeface="B Titr" panose="00000700000000000000" pitchFamily="2" charset="-78"/>
              </a:rPr>
              <a:t>پارامترهای کلیدی و تنظیمی در فرآیند قالب‌گیری تزریقی</a:t>
            </a:r>
            <a:endParaRPr lang="en-US" sz="2800" dirty="0">
              <a:solidFill>
                <a:srgbClr val="0070C0"/>
              </a:solidFill>
              <a:cs typeface="B Titr" panose="00000700000000000000" pitchFamily="2" charset="-78"/>
            </a:endParaRPr>
          </a:p>
        </p:txBody>
      </p:sp>
      <p:sp>
        <p:nvSpPr>
          <p:cNvPr id="6" name="TextBox 5">
            <a:extLst>
              <a:ext uri="{FF2B5EF4-FFF2-40B4-BE49-F238E27FC236}">
                <a16:creationId xmlns:a16="http://schemas.microsoft.com/office/drawing/2014/main" id="{73DC8A85-14FD-B8FC-E9D0-C4E5F66C392A}"/>
              </a:ext>
            </a:extLst>
          </p:cNvPr>
          <p:cNvSpPr txBox="1"/>
          <p:nvPr/>
        </p:nvSpPr>
        <p:spPr>
          <a:xfrm>
            <a:off x="7155368" y="1010472"/>
            <a:ext cx="4583151" cy="369332"/>
          </a:xfrm>
          <a:prstGeom prst="rect">
            <a:avLst/>
          </a:prstGeom>
          <a:noFill/>
        </p:spPr>
        <p:txBody>
          <a:bodyPr wrap="square" rtlCol="0">
            <a:spAutoFit/>
          </a:bodyPr>
          <a:lstStyle/>
          <a:p>
            <a:pPr algn="r" rtl="1"/>
            <a:r>
              <a:rPr lang="fa-IR" dirty="0">
                <a:solidFill>
                  <a:srgbClr val="C00000"/>
                </a:solidFill>
                <a:cs typeface="B Mitra" panose="00000400000000000000" pitchFamily="2" charset="-78"/>
              </a:rPr>
              <a:t>2-فشار(</a:t>
            </a:r>
            <a:r>
              <a:rPr lang="en-US" dirty="0">
                <a:solidFill>
                  <a:srgbClr val="C00000"/>
                </a:solidFill>
                <a:cs typeface="B Mitra" panose="00000400000000000000" pitchFamily="2" charset="-78"/>
              </a:rPr>
              <a:t>Pressure</a:t>
            </a:r>
            <a:r>
              <a:rPr lang="fa-IR" dirty="0">
                <a:solidFill>
                  <a:srgbClr val="C00000"/>
                </a:solidFill>
                <a:cs typeface="B Mitra" panose="00000400000000000000" pitchFamily="2" charset="-78"/>
              </a:rPr>
              <a:t>):</a:t>
            </a:r>
            <a:endParaRPr lang="en-US" dirty="0">
              <a:solidFill>
                <a:srgbClr val="C00000"/>
              </a:solidFill>
              <a:cs typeface="B Mitra" panose="00000400000000000000" pitchFamily="2" charset="-78"/>
            </a:endParaRPr>
          </a:p>
        </p:txBody>
      </p:sp>
      <p:sp>
        <p:nvSpPr>
          <p:cNvPr id="9" name="TextBox 8">
            <a:extLst>
              <a:ext uri="{FF2B5EF4-FFF2-40B4-BE49-F238E27FC236}">
                <a16:creationId xmlns:a16="http://schemas.microsoft.com/office/drawing/2014/main" id="{BD02D452-24AE-1D5E-B055-566E3521423A}"/>
              </a:ext>
            </a:extLst>
          </p:cNvPr>
          <p:cNvSpPr txBox="1"/>
          <p:nvPr/>
        </p:nvSpPr>
        <p:spPr>
          <a:xfrm>
            <a:off x="2994874" y="1677487"/>
            <a:ext cx="8928412" cy="2585323"/>
          </a:xfrm>
          <a:prstGeom prst="rect">
            <a:avLst/>
          </a:prstGeom>
          <a:noFill/>
        </p:spPr>
        <p:txBody>
          <a:bodyPr wrap="square" rtlCol="0">
            <a:spAutoFit/>
          </a:bodyPr>
          <a:lstStyle/>
          <a:p>
            <a:pPr algn="just" rtl="1"/>
            <a:r>
              <a:rPr lang="ar-SA" dirty="0">
                <a:cs typeface="B Mitra" panose="00000400000000000000" pitchFamily="2" charset="-78"/>
              </a:rPr>
              <a:t>در فرآیند قالب‌گیری تزریقی، فشار در دو فاز مستقل و با دو هدف کاملاً متفاوت اعمال می‌شود</a:t>
            </a:r>
            <a:r>
              <a:rPr lang="en-US" dirty="0">
                <a:cs typeface="B Mitra" panose="00000400000000000000" pitchFamily="2" charset="-78"/>
              </a:rPr>
              <a:t>:</a:t>
            </a:r>
            <a:endParaRPr lang="fa-IR" dirty="0">
              <a:cs typeface="B Mitra" panose="00000400000000000000" pitchFamily="2" charset="-78"/>
            </a:endParaRPr>
          </a:p>
          <a:p>
            <a:pPr algn="just" rtl="1"/>
            <a:endParaRPr lang="en-US" dirty="0">
              <a:cs typeface="B Mitra" panose="00000400000000000000" pitchFamily="2" charset="-78"/>
            </a:endParaRPr>
          </a:p>
          <a:p>
            <a:pPr marL="342900" indent="-342900" algn="just" rtl="1">
              <a:buFont typeface="+mj-lt"/>
              <a:buAutoNum type="arabicPeriod"/>
            </a:pPr>
            <a:r>
              <a:rPr lang="fa-IR" dirty="0">
                <a:cs typeface="B Mitra" panose="00000400000000000000" pitchFamily="2" charset="-78"/>
              </a:rPr>
              <a:t>فشار تزریق: </a:t>
            </a:r>
            <a:r>
              <a:rPr lang="ar-SA" dirty="0">
                <a:cs typeface="B Mitra" panose="00000400000000000000" pitchFamily="2" charset="-78"/>
              </a:rPr>
              <a:t>فشاری است که مارپیچ در مرحله‌ی اول برای هل دادن پلاستیک مذاب به درون قالب اعمال می‌کند</a:t>
            </a:r>
            <a:r>
              <a:rPr lang="en-US" dirty="0">
                <a:cs typeface="B Mitra" panose="00000400000000000000" pitchFamily="2" charset="-78"/>
              </a:rPr>
              <a:t>. </a:t>
            </a:r>
            <a:r>
              <a:rPr lang="ar-SA" dirty="0">
                <a:cs typeface="B Mitra" panose="00000400000000000000" pitchFamily="2" charset="-78"/>
              </a:rPr>
              <a:t>غلبه بر گرانروی (ویسکوزیته) بالای سیال پلیمری و پر کردن سریع حفره‌ی قالب قبل از انجماد مواد</a:t>
            </a:r>
            <a:r>
              <a:rPr lang="en-US" dirty="0">
                <a:cs typeface="B Mitra" panose="00000400000000000000" pitchFamily="2" charset="-78"/>
              </a:rPr>
              <a:t>.</a:t>
            </a:r>
            <a:endParaRPr lang="fa-IR" dirty="0">
              <a:cs typeface="B Mitra" panose="00000400000000000000" pitchFamily="2" charset="-78"/>
            </a:endParaRPr>
          </a:p>
          <a:p>
            <a:pPr marL="342900" indent="-342900" algn="just" rtl="1">
              <a:buFont typeface="+mj-lt"/>
              <a:buAutoNum type="arabicPeriod"/>
            </a:pPr>
            <a:endParaRPr lang="en-US" dirty="0">
              <a:cs typeface="B Mitra" panose="00000400000000000000" pitchFamily="2" charset="-78"/>
            </a:endParaRPr>
          </a:p>
          <a:p>
            <a:pPr marL="342900" indent="-342900" algn="just" rtl="1">
              <a:buFont typeface="+mj-lt"/>
              <a:buAutoNum type="arabicPeriod"/>
            </a:pPr>
            <a:r>
              <a:rPr lang="fa-IR" dirty="0">
                <a:cs typeface="B Mitra" panose="00000400000000000000" pitchFamily="2" charset="-78"/>
              </a:rPr>
              <a:t>فشار پکینگ: </a:t>
            </a:r>
            <a:r>
              <a:rPr lang="ar-SA" dirty="0">
                <a:cs typeface="B Mitra" panose="00000400000000000000" pitchFamily="2" charset="-78"/>
              </a:rPr>
              <a:t>فشاری ملایم‌تر که پس از پر شدن قالب، برای چند ثانیه همچنان پشت مارپیچ حفظ می‌شود</a:t>
            </a:r>
            <a:r>
              <a:rPr lang="en-US" dirty="0">
                <a:cs typeface="B Mitra" panose="00000400000000000000" pitchFamily="2" charset="-78"/>
              </a:rPr>
              <a:t>. </a:t>
            </a:r>
            <a:r>
              <a:rPr lang="ar-SA" dirty="0">
                <a:cs typeface="B Mitra" panose="00000400000000000000" pitchFamily="2" charset="-78"/>
              </a:rPr>
              <a:t>جبران انقباض حرارتی</a:t>
            </a:r>
            <a:r>
              <a:rPr lang="en-US" dirty="0">
                <a:cs typeface="B Mitra" panose="00000400000000000000" pitchFamily="2" charset="-78"/>
              </a:rPr>
              <a:t> (Shrinkage) </a:t>
            </a:r>
            <a:r>
              <a:rPr lang="ar-SA" dirty="0">
                <a:cs typeface="B Mitra" panose="00000400000000000000" pitchFamily="2" charset="-78"/>
              </a:rPr>
              <a:t>پلیمر حین خنک شدن. این فشار، مواد مذابِ اضافی را به درون قالب می‌چپاند تا افت حجم را جبران کند</a:t>
            </a:r>
            <a:r>
              <a:rPr lang="en-US" dirty="0">
                <a:cs typeface="B Mitra" panose="00000400000000000000" pitchFamily="2" charset="-78"/>
              </a:rPr>
              <a:t>.</a:t>
            </a:r>
            <a:r>
              <a:rPr lang="fa-IR" dirty="0">
                <a:cs typeface="B Mitra" panose="00000400000000000000" pitchFamily="2" charset="-78"/>
              </a:rPr>
              <a:t>کمبود این فشار عامل اصلی عیب مکندگی است.</a:t>
            </a:r>
            <a:endParaRPr lang="en-US" dirty="0">
              <a:cs typeface="B Mitra" panose="00000400000000000000" pitchFamily="2" charset="-78"/>
            </a:endParaRPr>
          </a:p>
          <a:p>
            <a:pPr algn="l" rtl="1"/>
            <a:endParaRPr lang="en-US" dirty="0"/>
          </a:p>
        </p:txBody>
      </p:sp>
    </p:spTree>
    <p:extLst>
      <p:ext uri="{BB962C8B-B14F-4D97-AF65-F5344CB8AC3E}">
        <p14:creationId xmlns:p14="http://schemas.microsoft.com/office/powerpoint/2010/main" val="1918486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
            <a:lum/>
          </a:blip>
          <a:srcRect/>
          <a:stretch>
            <a:fillRect/>
          </a:stretch>
        </a:blipFill>
        <a:effectLst/>
      </p:bgPr>
    </p:bg>
    <p:spTree>
      <p:nvGrpSpPr>
        <p:cNvPr id="1" name="">
          <a:extLst>
            <a:ext uri="{FF2B5EF4-FFF2-40B4-BE49-F238E27FC236}">
              <a16:creationId xmlns:a16="http://schemas.microsoft.com/office/drawing/2014/main" id="{AE5D2F35-4EFD-2359-9C40-E7DF1813740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F9CBFF-A957-3F9C-6CF7-DD6FF93F33FB}"/>
              </a:ext>
            </a:extLst>
          </p:cNvPr>
          <p:cNvSpPr txBox="1"/>
          <p:nvPr/>
        </p:nvSpPr>
        <p:spPr>
          <a:xfrm>
            <a:off x="4592320" y="550934"/>
            <a:ext cx="6863080" cy="5457904"/>
          </a:xfrm>
          <a:prstGeom prst="rect">
            <a:avLst/>
          </a:prstGeom>
          <a:noFill/>
        </p:spPr>
        <p:txBody>
          <a:bodyPr wrap="square">
            <a:spAutoFit/>
          </a:bodyPr>
          <a:lstStyle/>
          <a:p>
            <a:pPr algn="just" rtl="1">
              <a:lnSpc>
                <a:spcPct val="115000"/>
              </a:lnSpc>
              <a:spcAft>
                <a:spcPts val="800"/>
              </a:spcAft>
              <a:buNone/>
            </a:pPr>
            <a:r>
              <a:rPr lang="ar-SA" sz="2800" b="1" kern="100" dirty="0">
                <a:solidFill>
                  <a:srgbClr val="0070C0"/>
                </a:solidFill>
                <a:effectLst/>
                <a:latin typeface="Calibri" panose="020F0502020204030204" pitchFamily="34" charset="0"/>
                <a:ea typeface="Calibri" panose="020F0502020204030204" pitchFamily="34" charset="0"/>
                <a:cs typeface="B Titr" panose="00000700000000000000" pitchFamily="2" charset="-78"/>
              </a:rPr>
              <a:t>محصولات و صنایع متکی بر قالب گیری تزریقی</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rtl="1">
              <a:lnSpc>
                <a:spcPct val="115000"/>
              </a:lnSpc>
              <a:spcAft>
                <a:spcPts val="800"/>
              </a:spcAft>
              <a:buNone/>
            </a:pPr>
            <a:r>
              <a:rPr lang="ar-SA" sz="1800" kern="100" dirty="0">
                <a:effectLst/>
                <a:latin typeface="Calibri" panose="020F0502020204030204" pitchFamily="34" charset="0"/>
                <a:ea typeface="Calibri" panose="020F0502020204030204" pitchFamily="34" charset="0"/>
                <a:cs typeface="B Mitra" panose="00000400000000000000" pitchFamily="2" charset="-78"/>
              </a:rPr>
              <a:t>قالب گیری تزریقی</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به دلیل توانایی‌های منحصر به فرد خود در تولید انبوه، دقت بالا و امکان ساخت قطعات با اشکال پیچیده، به یکی از پرکاربردترین فرآیندهای تولیدی در جهان تبدیل شده است. ردپای این تکنولوژی را می‌توان در تقریباً تمامی جنبه‌های زندگی روزمره یافت. در ادامه به برخی از مهمترین کاربردهای آن در صنایع مختلف اشاره می‌کنیم</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b="1" kern="100" dirty="0">
                <a:effectLst/>
                <a:latin typeface="Calibri" panose="020F0502020204030204" pitchFamily="34" charset="0"/>
                <a:ea typeface="Calibri" panose="020F0502020204030204" pitchFamily="34" charset="0"/>
                <a:cs typeface="B Mitra" panose="00000400000000000000" pitchFamily="2" charset="-78"/>
              </a:rPr>
              <a:t>خودروسازی</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b="1" kern="100" dirty="0">
                <a:effectLst/>
                <a:latin typeface="B Mitra" panose="00000400000000000000" pitchFamily="2" charset="-78"/>
                <a:ea typeface="Calibri" panose="020F0502020204030204" pitchFamily="34" charset="0"/>
                <a:cs typeface="Arial" panose="020B0604020202020204" pitchFamily="34" charset="0"/>
              </a:rPr>
              <a:t> </a:t>
            </a:r>
            <a:r>
              <a:rPr lang="fa-IR" sz="1800" kern="100" dirty="0">
                <a:effectLst/>
                <a:latin typeface="Calibri" panose="020F0502020204030204" pitchFamily="34" charset="0"/>
                <a:ea typeface="Calibri" panose="020F0502020204030204" pitchFamily="34" charset="0"/>
                <a:cs typeface="B Mitra" panose="00000400000000000000" pitchFamily="2" charset="-78"/>
              </a:rPr>
              <a:t>از </a:t>
            </a:r>
            <a:r>
              <a:rPr lang="ar-SA" sz="1800" kern="100" dirty="0">
                <a:effectLst/>
                <a:latin typeface="Calibri" panose="020F0502020204030204" pitchFamily="34" charset="0"/>
                <a:ea typeface="Calibri" panose="020F0502020204030204" pitchFamily="34" charset="0"/>
                <a:cs typeface="B Mitra" panose="00000400000000000000" pitchFamily="2" charset="-78"/>
              </a:rPr>
              <a:t>مهم‌ترین صنایع مصرف‌کننده قطعات پلاستیکی تزریقی است. قطعات داخلی کابین مانند داشبورد، پنل‌های درب، دکمه‌ها، قطعات زیر کاپوت مانند مخازن مایعات، قاب موتور و همچنین قطعات خارجی مانند سپرها، چراغ‌ها و آینه‌ها، اغلب با این روش تولید می‌شوند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استفاده از</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گرانول</a:t>
            </a:r>
            <a:r>
              <a:rPr lang="en-US" sz="1800" b="1" kern="100" dirty="0">
                <a:effectLst/>
                <a:latin typeface="Calibri" panose="020F0502020204030204" pitchFamily="34" charset="0"/>
                <a:ea typeface="Calibri" panose="020F0502020204030204" pitchFamily="34" charset="0"/>
                <a:cs typeface="B Mitra" panose="00000400000000000000" pitchFamily="2" charset="-78"/>
              </a:rPr>
              <a:t> ABS</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و</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گرانول پلی پروپیلن</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در این صنعت بسیار رایج است</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لوازم خانگی</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بدنه بسیاری از لوازم برقی آشپزخانه (مانند مخلوط‌کن، چای‌ساز)، قطعات داخلی یخچال، جاروبرقی، ماشین لباسشویی و سایر وسایل منزل از طریق</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تزریق پلاستیک</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ساخته می‌شوند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b="1" kern="100" dirty="0">
                <a:effectLst/>
                <a:latin typeface="Calibri" panose="020F0502020204030204" pitchFamily="34" charset="0"/>
                <a:ea typeface="Calibri" panose="020F0502020204030204" pitchFamily="34" charset="0"/>
                <a:cs typeface="B Mitra" panose="00000400000000000000" pitchFamily="2" charset="-78"/>
              </a:rPr>
              <a:t>الکترونیک</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قاب گوشی‌های هوشمند، تبلت‌ها، لپ‌تاپ‌ها، کنترل‌کننده‌ها، دکمه‌ها، اتصالات الکتریکی و محفظه‌های قطعات الکترونیکی همگی با این فرآیند تولید می‌شوند. دقت بالای قالب‌گیری برای این قطعات کوچک و حساس بسیار حیاتی است</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91ABD816-5B81-691A-FCFC-1CBF4B14E7A4}"/>
              </a:ext>
            </a:extLst>
          </p:cNvPr>
          <p:cNvPicPr>
            <a:picLocks noChangeAspect="1"/>
          </p:cNvPicPr>
          <p:nvPr/>
        </p:nvPicPr>
        <p:blipFill>
          <a:blip r:embed="rId3"/>
          <a:stretch>
            <a:fillRect/>
          </a:stretch>
        </p:blipFill>
        <p:spPr>
          <a:xfrm>
            <a:off x="694140" y="3973274"/>
            <a:ext cx="3618780" cy="2035564"/>
          </a:xfrm>
          <a:prstGeom prst="rect">
            <a:avLst/>
          </a:prstGeom>
        </p:spPr>
      </p:pic>
      <p:pic>
        <p:nvPicPr>
          <p:cNvPr id="8" name="Picture 7">
            <a:extLst>
              <a:ext uri="{FF2B5EF4-FFF2-40B4-BE49-F238E27FC236}">
                <a16:creationId xmlns:a16="http://schemas.microsoft.com/office/drawing/2014/main" id="{91B53611-AB78-C647-0EEA-D5BAB73568A2}"/>
              </a:ext>
            </a:extLst>
          </p:cNvPr>
          <p:cNvPicPr>
            <a:picLocks noChangeAspect="1"/>
          </p:cNvPicPr>
          <p:nvPr/>
        </p:nvPicPr>
        <p:blipFill>
          <a:blip r:embed="rId4"/>
          <a:srcRect l="13438" r="11868"/>
          <a:stretch>
            <a:fillRect/>
          </a:stretch>
        </p:blipFill>
        <p:spPr>
          <a:xfrm>
            <a:off x="3705802" y="3429000"/>
            <a:ext cx="607118" cy="812800"/>
          </a:xfrm>
          <a:prstGeom prst="rect">
            <a:avLst/>
          </a:prstGeom>
        </p:spPr>
      </p:pic>
      <p:pic>
        <p:nvPicPr>
          <p:cNvPr id="14" name="Picture 13">
            <a:extLst>
              <a:ext uri="{FF2B5EF4-FFF2-40B4-BE49-F238E27FC236}">
                <a16:creationId xmlns:a16="http://schemas.microsoft.com/office/drawing/2014/main" id="{A71A7775-BC61-1EAB-F12F-FEF530BCEDA4}"/>
              </a:ext>
            </a:extLst>
          </p:cNvPr>
          <p:cNvPicPr>
            <a:picLocks noChangeAspect="1"/>
          </p:cNvPicPr>
          <p:nvPr/>
        </p:nvPicPr>
        <p:blipFill>
          <a:blip r:embed="rId5"/>
          <a:stretch>
            <a:fillRect/>
          </a:stretch>
        </p:blipFill>
        <p:spPr>
          <a:xfrm>
            <a:off x="923855" y="1326515"/>
            <a:ext cx="3389065" cy="2178685"/>
          </a:xfrm>
          <a:prstGeom prst="rect">
            <a:avLst/>
          </a:prstGeom>
        </p:spPr>
      </p:pic>
    </p:spTree>
    <p:extLst>
      <p:ext uri="{BB962C8B-B14F-4D97-AF65-F5344CB8AC3E}">
        <p14:creationId xmlns:p14="http://schemas.microsoft.com/office/powerpoint/2010/main" val="2408218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A7FD2B-2F07-4644-BCBD-F99218780C79}"/>
              </a:ext>
            </a:extLst>
          </p:cNvPr>
          <p:cNvSpPr txBox="1"/>
          <p:nvPr/>
        </p:nvSpPr>
        <p:spPr>
          <a:xfrm>
            <a:off x="5394960" y="953654"/>
            <a:ext cx="6096000" cy="3483005"/>
          </a:xfrm>
          <a:prstGeom prst="rect">
            <a:avLst/>
          </a:prstGeom>
          <a:noFill/>
        </p:spPr>
        <p:txBody>
          <a:bodyPr wrap="square">
            <a:spAutoFit/>
          </a:bodyPr>
          <a:lstStyle/>
          <a:p>
            <a:pPr marL="342900" lvl="0" indent="-342900" algn="just" rtl="1">
              <a:lnSpc>
                <a:spcPct val="115000"/>
              </a:lnSpc>
              <a:spcAft>
                <a:spcPts val="800"/>
              </a:spcAft>
              <a:buFont typeface="+mj-lt"/>
              <a:buAutoNum type="arabicPeriod" startAt="4"/>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پزشکی و داروسازی</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سرنگ‌های یکبار مصرف، پتری‌دیش‌ها، لوله‌های آزمایش، کلاهک‌های دارویی، قطعات دستگاه‌های پزشکی و ابزارهای جراحی پلاستیکی، نمونه‌هایی از کاربردهای حیاتی</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قالب گیری تزریقی</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در این حوزه هستند که نیازمند استانداردهای بهداشتی و دقت بسیار بالا هستند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startAt="4"/>
            </a:pPr>
            <a:r>
              <a:rPr lang="ar-SA" sz="1800" b="1" kern="100" dirty="0">
                <a:effectLst/>
                <a:latin typeface="Calibri" panose="020F0502020204030204" pitchFamily="34" charset="0"/>
                <a:ea typeface="Calibri" panose="020F0502020204030204" pitchFamily="34" charset="0"/>
                <a:cs typeface="B Mitra" panose="00000400000000000000" pitchFamily="2" charset="-78"/>
              </a:rPr>
              <a:t>بسته‌بندی</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درب بطری‌ها، ظروف مواد غذایی، بسته‌بندی‌های کالا، و ظروف آرایشی و بهداشتی از پرشمارترین محصولات این فرآیند هستند. تولید انبوه با هزینه پایین در این صنعت اهمیت زیادی دارد</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startAt="4"/>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مصرفی و اسباب‌بازی</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انواع اسباب‌بازی‌های پلاستیکی (مانند لگو)، ظروف پلاستیکی آشپزخانه، برس‌ها، شانه و سایر محصولات مصرفی روزمره با این روش تولید می‌شوند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گرانول پلی استایرن</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و</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گرانول</a:t>
            </a:r>
            <a:r>
              <a:rPr lang="en-US" sz="1800" b="1" kern="100" dirty="0">
                <a:effectLst/>
                <a:latin typeface="Calibri" panose="020F0502020204030204" pitchFamily="34" charset="0"/>
                <a:ea typeface="Calibri" panose="020F0502020204030204" pitchFamily="34" charset="0"/>
                <a:cs typeface="B Mitra" panose="00000400000000000000" pitchFamily="2" charset="-78"/>
              </a:rPr>
              <a:t> PP</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در این بخش کاربرد فراوانی دارند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64AD8E3-FC97-B229-68AA-14461CBF5946}"/>
              </a:ext>
            </a:extLst>
          </p:cNvPr>
          <p:cNvPicPr>
            <a:picLocks noChangeAspect="1"/>
          </p:cNvPicPr>
          <p:nvPr/>
        </p:nvPicPr>
        <p:blipFill>
          <a:blip r:embed="rId3"/>
          <a:srcRect t="14208" b="16103"/>
          <a:stretch>
            <a:fillRect/>
          </a:stretch>
        </p:blipFill>
        <p:spPr>
          <a:xfrm>
            <a:off x="6701245" y="4630126"/>
            <a:ext cx="2272603" cy="1583752"/>
          </a:xfrm>
          <a:prstGeom prst="rect">
            <a:avLst/>
          </a:prstGeom>
        </p:spPr>
      </p:pic>
      <p:pic>
        <p:nvPicPr>
          <p:cNvPr id="10" name="Picture 9">
            <a:extLst>
              <a:ext uri="{FF2B5EF4-FFF2-40B4-BE49-F238E27FC236}">
                <a16:creationId xmlns:a16="http://schemas.microsoft.com/office/drawing/2014/main" id="{7A939328-1667-E6B6-D95A-FA7675C1FA13}"/>
              </a:ext>
            </a:extLst>
          </p:cNvPr>
          <p:cNvPicPr>
            <a:picLocks noChangeAspect="1"/>
          </p:cNvPicPr>
          <p:nvPr/>
        </p:nvPicPr>
        <p:blipFill>
          <a:blip r:embed="rId4"/>
          <a:stretch>
            <a:fillRect/>
          </a:stretch>
        </p:blipFill>
        <p:spPr>
          <a:xfrm>
            <a:off x="855434" y="837589"/>
            <a:ext cx="3921085" cy="2352651"/>
          </a:xfrm>
          <a:prstGeom prst="rect">
            <a:avLst/>
          </a:prstGeom>
        </p:spPr>
      </p:pic>
      <p:pic>
        <p:nvPicPr>
          <p:cNvPr id="12" name="Picture 11">
            <a:extLst>
              <a:ext uri="{FF2B5EF4-FFF2-40B4-BE49-F238E27FC236}">
                <a16:creationId xmlns:a16="http://schemas.microsoft.com/office/drawing/2014/main" id="{DD94D676-1687-9D65-11F6-4FD04E1C43E9}"/>
              </a:ext>
            </a:extLst>
          </p:cNvPr>
          <p:cNvPicPr>
            <a:picLocks noChangeAspect="1"/>
          </p:cNvPicPr>
          <p:nvPr/>
        </p:nvPicPr>
        <p:blipFill>
          <a:blip r:embed="rId5"/>
          <a:stretch>
            <a:fillRect/>
          </a:stretch>
        </p:blipFill>
        <p:spPr>
          <a:xfrm>
            <a:off x="735333" y="3622467"/>
            <a:ext cx="4041186" cy="2591411"/>
          </a:xfrm>
          <a:prstGeom prst="rect">
            <a:avLst/>
          </a:prstGeom>
        </p:spPr>
      </p:pic>
    </p:spTree>
    <p:extLst>
      <p:ext uri="{BB962C8B-B14F-4D97-AF65-F5344CB8AC3E}">
        <p14:creationId xmlns:p14="http://schemas.microsoft.com/office/powerpoint/2010/main" val="4170702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3000"/>
            <a:lum/>
          </a:blip>
          <a:srcRect/>
          <a:stretch>
            <a:fillRect t="-8000" b="-8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5424A15-A971-9951-3431-4BCA309BE89A}"/>
              </a:ext>
            </a:extLst>
          </p:cNvPr>
          <p:cNvSpPr txBox="1"/>
          <p:nvPr/>
        </p:nvSpPr>
        <p:spPr>
          <a:xfrm>
            <a:off x="5354320" y="566833"/>
            <a:ext cx="6096000" cy="503215"/>
          </a:xfrm>
          <a:prstGeom prst="rect">
            <a:avLst/>
          </a:prstGeom>
          <a:noFill/>
        </p:spPr>
        <p:txBody>
          <a:bodyPr wrap="square">
            <a:spAutoFit/>
          </a:bodyPr>
          <a:lstStyle/>
          <a:p>
            <a:pPr algn="just" rtl="1">
              <a:lnSpc>
                <a:spcPct val="115000"/>
              </a:lnSpc>
              <a:spcAft>
                <a:spcPts val="800"/>
              </a:spcAft>
              <a:buNone/>
            </a:pPr>
            <a:r>
              <a:rPr lang="ar-SA" sz="2400" b="1" kern="100">
                <a:solidFill>
                  <a:srgbClr val="0070C0"/>
                </a:solidFill>
                <a:effectLst/>
                <a:latin typeface="Calibri" panose="020F0502020204030204" pitchFamily="34" charset="0"/>
                <a:ea typeface="Calibri" panose="020F0502020204030204" pitchFamily="34" charset="0"/>
                <a:cs typeface="B Titr" panose="00000700000000000000" pitchFamily="2" charset="-78"/>
              </a:rPr>
              <a:t>مزایا و معایب قالب گیری تزریقی</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A57E2A65-375B-3570-630A-6CA9C64A5FB8}"/>
              </a:ext>
            </a:extLst>
          </p:cNvPr>
          <p:cNvSpPr txBox="1"/>
          <p:nvPr/>
        </p:nvSpPr>
        <p:spPr>
          <a:xfrm>
            <a:off x="1910080" y="1123599"/>
            <a:ext cx="9540240" cy="4849020"/>
          </a:xfrm>
          <a:prstGeom prst="rect">
            <a:avLst/>
          </a:prstGeom>
          <a:noFill/>
        </p:spPr>
        <p:txBody>
          <a:bodyPr wrap="square">
            <a:spAutoFit/>
          </a:bodyPr>
          <a:lstStyle/>
          <a:p>
            <a:pPr algn="just" rtl="1">
              <a:lnSpc>
                <a:spcPct val="115000"/>
              </a:lnSpc>
              <a:spcAft>
                <a:spcPts val="800"/>
              </a:spcAft>
              <a:buNone/>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مزایا</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b="1" kern="100" dirty="0">
                <a:effectLst/>
                <a:latin typeface="Calibri" panose="020F0502020204030204" pitchFamily="34" charset="0"/>
                <a:ea typeface="Calibri" panose="020F0502020204030204" pitchFamily="34" charset="0"/>
                <a:cs typeface="B Mitra" panose="00000400000000000000" pitchFamily="2" charset="-78"/>
              </a:rPr>
              <a:t>تولید انبوه با هزینه واحد پایین</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پس از پرداخت هزینه‌های اولیه قالب و دستگاه، هزینه تولید هر قطعه به شدت کاهش می‌یابد که آن را برای تیراژهای بالا بسیار اقتصادی می‌کند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b="1" kern="100" dirty="0">
                <a:effectLst/>
                <a:latin typeface="Calibri" panose="020F0502020204030204" pitchFamily="34" charset="0"/>
                <a:ea typeface="Calibri" panose="020F0502020204030204" pitchFamily="34" charset="0"/>
                <a:cs typeface="B Mitra" panose="00000400000000000000" pitchFamily="2" charset="-78"/>
              </a:rPr>
              <a:t>دقت ابعادی و تکرارپذیری عالی</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قالب گیری تزریقی</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قادر به تولید قطعاتی با تلرانس‌های بسیار بسته و ابعاد کاملاً یکسان در میلیون‌ها نسخه است</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قابلیت تولید قطعات با هندسه‌های پیچیده و جزئیات دقیق</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این فرآیند امکان ایجاد اشکال پیچیده، دیواره‌های نازک، و جزئیات ریز را فراهم می‌آورد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b="1" kern="100" dirty="0">
                <a:effectLst/>
                <a:latin typeface="Calibri" panose="020F0502020204030204" pitchFamily="34" charset="0"/>
                <a:ea typeface="Calibri" panose="020F0502020204030204" pitchFamily="34" charset="0"/>
                <a:cs typeface="B Mitra" panose="00000400000000000000" pitchFamily="2" charset="-78"/>
              </a:rPr>
              <a:t>استفاده از طیف وسیع مواد</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طیف گسترده‌ای از ترموپلاستیک‌ها (مانند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گرانول پلی پروپیلن</a:t>
            </a:r>
            <a:r>
              <a:rPr lang="ar-SA" sz="1800"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گرانول</a:t>
            </a:r>
            <a:r>
              <a:rPr lang="en-US" sz="1800" b="1" kern="100" dirty="0">
                <a:effectLst/>
                <a:latin typeface="Calibri" panose="020F0502020204030204" pitchFamily="34" charset="0"/>
                <a:ea typeface="Calibri" panose="020F0502020204030204" pitchFamily="34" charset="0"/>
                <a:cs typeface="B Mitra" panose="00000400000000000000" pitchFamily="2" charset="-78"/>
              </a:rPr>
              <a:t> ABS</a:t>
            </a:r>
            <a:r>
              <a:rPr lang="ar-SA" sz="1800"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گرانول پلی استایرن</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و </a:t>
            </a:r>
            <a:r>
              <a:rPr lang="ar-SA" sz="1800" kern="100" dirty="0">
                <a:effectLst/>
                <a:latin typeface="Calibri" panose="020F0502020204030204" pitchFamily="34" charset="0"/>
                <a:ea typeface="Calibri" panose="020F0502020204030204" pitchFamily="34" charset="0"/>
                <a:cs typeface="Arial" panose="020B0604020202020204" pitchFamily="34" charset="0"/>
              </a:rPr>
              <a:t>…</a:t>
            </a:r>
            <a:r>
              <a:rPr lang="ar-SA" sz="1800" kern="100" dirty="0">
                <a:effectLst/>
                <a:latin typeface="Calibri" panose="020F0502020204030204" pitchFamily="34" charset="0"/>
                <a:ea typeface="Calibri" panose="020F0502020204030204" pitchFamily="34" charset="0"/>
                <a:cs typeface="B Mitra" panose="00000400000000000000" pitchFamily="2" charset="-78"/>
              </a:rPr>
              <a:t>) و ترموست‌ها قابل استفاده هستند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b="1" kern="100" dirty="0">
                <a:effectLst/>
                <a:latin typeface="Calibri" panose="020F0502020204030204" pitchFamily="34" charset="0"/>
                <a:ea typeface="Calibri" panose="020F0502020204030204" pitchFamily="34" charset="0"/>
                <a:cs typeface="B Mitra" panose="00000400000000000000" pitchFamily="2" charset="-78"/>
              </a:rPr>
              <a:t>کاهش نیاز به عملیات تکمیلی پس از تولید</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قطعات معمولاً با پرداخت سطح بسیار خوب و آماده استفاده از قالب خارج می‌شوند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Font typeface="+mj-lt"/>
              <a:buAutoNum type="arabicPeriod"/>
            </a:pPr>
            <a:r>
              <a:rPr lang="ar-SA" sz="1800" b="1" kern="100" dirty="0">
                <a:effectLst/>
                <a:latin typeface="Calibri" panose="020F0502020204030204" pitchFamily="34" charset="0"/>
                <a:ea typeface="Calibri" panose="020F0502020204030204" pitchFamily="34" charset="0"/>
                <a:cs typeface="B Mitra" panose="00000400000000000000" pitchFamily="2" charset="-78"/>
              </a:rPr>
              <a:t>ضایعات کم و قابلیت بازیافت مواد:</a:t>
            </a:r>
            <a:r>
              <a:rPr lang="ar-SA" sz="1800" kern="100" dirty="0">
                <a:effectLst/>
                <a:latin typeface="Calibri" panose="020F0502020204030204" pitchFamily="34" charset="0"/>
                <a:ea typeface="Calibri" panose="020F0502020204030204" pitchFamily="34" charset="0"/>
                <a:cs typeface="B Mitra" panose="00000400000000000000" pitchFamily="2" charset="-78"/>
              </a:rPr>
              <a:t> در مقایسه با فرآیندهای ماشین‌کاری که مواد زیادی تراشیده و دور ریخته می‌شوند، قالب‌گیری تزریقی بسیار بهینه است. مواد فقط به اندازه حجم قطعه و راهگاه مصرف می‌شوند. حتی در سیستم‌های راهگاه سرد، می‌توان ضایعات راهگاهی را دوباره آسیاب و بازیافت مکانیکی کرد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14900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000"/>
            <a:lum/>
          </a:blip>
          <a:srcRect/>
          <a:stretch>
            <a:fillRect t="-39000" b="-3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687F06-0075-576B-3638-E74D1570BFB1}"/>
              </a:ext>
            </a:extLst>
          </p:cNvPr>
          <p:cNvSpPr txBox="1"/>
          <p:nvPr/>
        </p:nvSpPr>
        <p:spPr>
          <a:xfrm>
            <a:off x="782320" y="485139"/>
            <a:ext cx="10627360" cy="2732543"/>
          </a:xfrm>
          <a:prstGeom prst="rect">
            <a:avLst/>
          </a:prstGeom>
          <a:noFill/>
        </p:spPr>
        <p:txBody>
          <a:bodyPr wrap="square">
            <a:spAutoFit/>
          </a:bodyPr>
          <a:lstStyle/>
          <a:p>
            <a:pPr marL="228600" algn="just" rtl="1">
              <a:lnSpc>
                <a:spcPct val="115000"/>
              </a:lnSpc>
              <a:spcAft>
                <a:spcPts val="800"/>
              </a:spcAft>
              <a:buNone/>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معایب</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SzPts val="1000"/>
              <a:buFont typeface="+mj-lt"/>
              <a:buAutoNum type="arabicPeriod"/>
              <a:tabLst>
                <a:tab pos="457200" algn="l"/>
              </a:tabLst>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هزینه اولیه سرمایه‌گذاری بالا</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هزینه طراحی و ساخت قالب‌ها، به ویژه برای قطعات پیچیده یا تیراژ بالا، می‌تواند بسیار زیاد باشد. خرید</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ماشین تزریق پلاستیک</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نیز سرمایه زیادی نیاز دارد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SzPts val="1000"/>
              <a:buFont typeface="+mj-lt"/>
              <a:buAutoNum type="arabicPeriod"/>
              <a:tabLst>
                <a:tab pos="457200" algn="l"/>
              </a:tabLst>
            </a:pPr>
            <a:r>
              <a:rPr lang="ar-SA" sz="1800" b="1" kern="100" dirty="0">
                <a:effectLst/>
                <a:latin typeface="Calibri" panose="020F0502020204030204" pitchFamily="34" charset="0"/>
                <a:ea typeface="Calibri" panose="020F0502020204030204" pitchFamily="34" charset="0"/>
                <a:cs typeface="B Mitra" panose="00000400000000000000" pitchFamily="2" charset="-78"/>
              </a:rPr>
              <a:t>زمان طراحی و ساخت قالب</a:t>
            </a:r>
            <a:r>
              <a:rPr lang="en-US" sz="1800" b="1" kern="100" dirty="0">
                <a:effectLst/>
                <a:latin typeface="Calibri" panose="020F0502020204030204" pitchFamily="34" charset="0"/>
                <a:ea typeface="Calibri" panose="020F0502020204030204" pitchFamily="34" charset="0"/>
                <a:cs typeface="B Mitra" panose="00000400000000000000" pitchFamily="2" charset="-78"/>
              </a:rPr>
              <a:t> (Lead Time) </a:t>
            </a:r>
            <a:r>
              <a:rPr lang="ar-SA" sz="1800" b="1" kern="100" dirty="0">
                <a:effectLst/>
                <a:latin typeface="Calibri" panose="020F0502020204030204" pitchFamily="34" charset="0"/>
                <a:ea typeface="Calibri" panose="020F0502020204030204" pitchFamily="34" charset="0"/>
                <a:cs typeface="B Mitra" panose="00000400000000000000" pitchFamily="2" charset="-78"/>
              </a:rPr>
              <a:t>نسبتاً طولانی</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ساخت قالب‌های دقیق و پیچیده نیازمند زمان زیادی است که می‌تواند از چند هفته تا چند ماه متغیر باشد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SzPts val="1000"/>
              <a:buFont typeface="+mj-lt"/>
              <a:buAutoNum type="arabicPeriod"/>
              <a:tabLst>
                <a:tab pos="457200" algn="l"/>
              </a:tabLst>
            </a:pPr>
            <a:r>
              <a:rPr lang="ar-SA" sz="1800" b="1" kern="100" dirty="0">
                <a:effectLst/>
                <a:latin typeface="Calibri" panose="020F0502020204030204" pitchFamily="34" charset="0"/>
                <a:ea typeface="Calibri" panose="020F0502020204030204" pitchFamily="34" charset="0"/>
                <a:cs typeface="B Mitra" panose="00000400000000000000" pitchFamily="2" charset="-78"/>
              </a:rPr>
              <a:t>عدم صرفه اقتصادی برای تیراژهای بسیار کم</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به دلیل هزینه‌های اولیه بالا، این روش برای تولید تعداد محدودی از قطعات مقرون به صرفه نیست</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spcAft>
                <a:spcPts val="800"/>
              </a:spcAft>
              <a:buSzPts val="1000"/>
              <a:buFont typeface="+mj-lt"/>
              <a:buAutoNum type="arabicPeriod"/>
              <a:tabLst>
                <a:tab pos="457200" algn="l"/>
              </a:tabLst>
            </a:pPr>
            <a:r>
              <a:rPr lang="ar-SA" sz="1800" b="1" kern="100" dirty="0">
                <a:effectLst/>
                <a:latin typeface="Calibri" panose="020F0502020204030204" pitchFamily="34" charset="0"/>
                <a:ea typeface="Calibri" panose="020F0502020204030204" pitchFamily="34" charset="0"/>
                <a:cs typeface="B Mitra" panose="00000400000000000000" pitchFamily="2" charset="-78"/>
              </a:rPr>
              <a:t>محدودیت در اندازه قطعات</a:t>
            </a:r>
            <a:r>
              <a:rPr lang="en-US" sz="1800" b="1" kern="100" dirty="0">
                <a:effectLst/>
                <a:latin typeface="Calibri" panose="020F0502020204030204" pitchFamily="34" charset="0"/>
                <a:ea typeface="Calibri" panose="020F0502020204030204" pitchFamily="34" charset="0"/>
                <a:cs typeface="B Mitra" panose="00000400000000000000" pitchFamily="2" charset="-78"/>
              </a:rPr>
              <a:t>:</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اندازه قطعات قابل تولید به ظرفیت و ابعاد دستگاه</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قالب گیری تزریقی</a:t>
            </a:r>
            <a:r>
              <a:rPr lang="en-US" sz="1800" kern="100" dirty="0">
                <a:effectLst/>
                <a:latin typeface="Calibri" panose="020F0502020204030204" pitchFamily="34" charset="0"/>
                <a:ea typeface="Calibri" panose="020F0502020204030204" pitchFamily="34" charset="0"/>
                <a:cs typeface="B Mitra" panose="00000400000000000000" pitchFamily="2" charset="-78"/>
              </a:rPr>
              <a:t> </a:t>
            </a:r>
            <a:r>
              <a:rPr lang="ar-SA" sz="1800" kern="100" dirty="0">
                <a:effectLst/>
                <a:latin typeface="Calibri" panose="020F0502020204030204" pitchFamily="34" charset="0"/>
                <a:ea typeface="Calibri" panose="020F0502020204030204" pitchFamily="34" charset="0"/>
                <a:cs typeface="B Mitra" panose="00000400000000000000" pitchFamily="2" charset="-78"/>
              </a:rPr>
              <a:t>و قالب آن بستگی دارد</a:t>
            </a:r>
            <a:r>
              <a:rPr lang="en-US" sz="1800" kern="100" dirty="0">
                <a:effectLst/>
                <a:latin typeface="Calibri" panose="020F0502020204030204" pitchFamily="34" charset="0"/>
                <a:ea typeface="Calibri" panose="020F0502020204030204" pitchFamily="34" charset="0"/>
                <a:cs typeface="B Mitra" panose="00000400000000000000" pitchFamily="2" charset="-78"/>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ED6E776-7316-017B-D001-3BBD59F9D14E}"/>
              </a:ext>
            </a:extLst>
          </p:cNvPr>
          <p:cNvPicPr>
            <a:picLocks noChangeAspect="1"/>
          </p:cNvPicPr>
          <p:nvPr/>
        </p:nvPicPr>
        <p:blipFill>
          <a:blip r:embed="rId3"/>
          <a:stretch>
            <a:fillRect/>
          </a:stretch>
        </p:blipFill>
        <p:spPr>
          <a:xfrm>
            <a:off x="3004145" y="3496646"/>
            <a:ext cx="6183710" cy="2458750"/>
          </a:xfrm>
          <a:prstGeom prst="rect">
            <a:avLst/>
          </a:prstGeom>
        </p:spPr>
      </p:pic>
      <p:sp>
        <p:nvSpPr>
          <p:cNvPr id="8" name="TextBox 7">
            <a:extLst>
              <a:ext uri="{FF2B5EF4-FFF2-40B4-BE49-F238E27FC236}">
                <a16:creationId xmlns:a16="http://schemas.microsoft.com/office/drawing/2014/main" id="{6C971AEF-441D-8C47-0665-AE07CD4AB18B}"/>
              </a:ext>
            </a:extLst>
          </p:cNvPr>
          <p:cNvSpPr txBox="1"/>
          <p:nvPr/>
        </p:nvSpPr>
        <p:spPr>
          <a:xfrm>
            <a:off x="2722366" y="6234361"/>
            <a:ext cx="7091680" cy="276999"/>
          </a:xfrm>
          <a:prstGeom prst="rect">
            <a:avLst/>
          </a:prstGeom>
          <a:noFill/>
        </p:spPr>
        <p:txBody>
          <a:bodyPr wrap="square">
            <a:spAutoFit/>
          </a:bodyPr>
          <a:lstStyle/>
          <a:p>
            <a:r>
              <a:rPr lang="en-US" sz="600" dirty="0"/>
              <a:t>https://wikiplast.ir/article/22563/7-%D8%B9%DB%8C%D8%A8-%D8%B1%D8%A7%DB%8C%D8%AC-%D9%82%D8%A7%D9%84%D8%A8-%DA%AF%DB%8C%D8%B1%DB%8C-%D8%AA%D8%B2%D8%B1%DB%8C%D9%82%DB%8C-%D9%88-%D9%86%D8%AD%D9%88%D9%87-%D8%AC%D9%84%D9%88%DA%AF%DB%8C%D8%B1%DB%8C-%D8%A7%D8%B2-%D8%A2%D9%86-%D9%87%D8%A7</a:t>
            </a:r>
          </a:p>
        </p:txBody>
      </p:sp>
    </p:spTree>
    <p:extLst>
      <p:ext uri="{BB962C8B-B14F-4D97-AF65-F5344CB8AC3E}">
        <p14:creationId xmlns:p14="http://schemas.microsoft.com/office/powerpoint/2010/main" val="2142544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000"/>
            <a:lum/>
          </a:blip>
          <a:srcRect/>
          <a:stretch>
            <a:fillRect l="-11000" r="-11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023EF6-1EF3-B1AD-9C1E-521DDFBD32C7}"/>
              </a:ext>
            </a:extLst>
          </p:cNvPr>
          <p:cNvSpPr txBox="1"/>
          <p:nvPr/>
        </p:nvSpPr>
        <p:spPr>
          <a:xfrm>
            <a:off x="4357007" y="438088"/>
            <a:ext cx="4515423" cy="503215"/>
          </a:xfrm>
          <a:prstGeom prst="rect">
            <a:avLst/>
          </a:prstGeom>
          <a:noFill/>
        </p:spPr>
        <p:txBody>
          <a:bodyPr wrap="square">
            <a:spAutoFit/>
          </a:bodyPr>
          <a:lstStyle/>
          <a:p>
            <a:pPr marL="228600" algn="just" rtl="1">
              <a:lnSpc>
                <a:spcPct val="115000"/>
              </a:lnSpc>
              <a:spcAft>
                <a:spcPts val="800"/>
              </a:spcAft>
              <a:buNone/>
            </a:pPr>
            <a:r>
              <a:rPr lang="ar-SA" sz="2400" b="1" kern="100" dirty="0">
                <a:solidFill>
                  <a:srgbClr val="0070C0"/>
                </a:solidFill>
                <a:effectLst/>
                <a:latin typeface="Calibri" panose="020F0502020204030204" pitchFamily="34" charset="0"/>
                <a:ea typeface="Calibri" panose="020F0502020204030204" pitchFamily="34" charset="0"/>
                <a:cs typeface="B Titr" panose="00000700000000000000" pitchFamily="2" charset="-78"/>
              </a:rPr>
              <a:t>مشکلات رایج در قالب گیری تزریقی</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64C1053B-DDAD-0243-F1FC-D3DD4C69DDFE}"/>
              </a:ext>
            </a:extLst>
          </p:cNvPr>
          <p:cNvSpPr txBox="1"/>
          <p:nvPr/>
        </p:nvSpPr>
        <p:spPr>
          <a:xfrm>
            <a:off x="4876800" y="1561051"/>
            <a:ext cx="6697437" cy="4108817"/>
          </a:xfrm>
          <a:prstGeom prst="rect">
            <a:avLst/>
          </a:prstGeom>
          <a:noFill/>
        </p:spPr>
        <p:txBody>
          <a:bodyPr wrap="square">
            <a:spAutoFit/>
          </a:bodyPr>
          <a:lstStyle/>
          <a:p>
            <a:pPr algn="r" rtl="1" fontAlgn="base">
              <a:spcAft>
                <a:spcPts val="750"/>
              </a:spcAft>
              <a:buNone/>
            </a:pPr>
            <a:r>
              <a:rPr lang="fa-IR" b="1" i="0" dirty="0">
                <a:solidFill>
                  <a:srgbClr val="990033"/>
                </a:solidFill>
                <a:effectLst/>
                <a:latin typeface="vazir"/>
                <a:cs typeface="B Mitra" panose="00000400000000000000" pitchFamily="2" charset="-78"/>
              </a:rPr>
              <a:t>پر شدن ناقص قطعه </a:t>
            </a:r>
            <a:r>
              <a:rPr lang="en-US" b="1" i="0" dirty="0">
                <a:solidFill>
                  <a:srgbClr val="990033"/>
                </a:solidFill>
                <a:effectLst/>
                <a:latin typeface="vazir"/>
                <a:cs typeface="B Mitra" panose="00000400000000000000" pitchFamily="2" charset="-78"/>
              </a:rPr>
              <a:t>(Short Shots)</a:t>
            </a:r>
            <a:endParaRPr lang="fa-IR" b="1" i="0" dirty="0">
              <a:solidFill>
                <a:srgbClr val="000000"/>
              </a:solidFill>
              <a:effectLst/>
              <a:latin typeface="vazir"/>
              <a:cs typeface="B Mitra" panose="00000400000000000000" pitchFamily="2" charset="-78"/>
            </a:endParaRPr>
          </a:p>
          <a:p>
            <a:pPr algn="r" rtl="1" fontAlgn="base">
              <a:spcAft>
                <a:spcPts val="1500"/>
              </a:spcAft>
              <a:buNone/>
            </a:pPr>
            <a:r>
              <a:rPr lang="fa-IR" b="0" i="0" dirty="0">
                <a:solidFill>
                  <a:srgbClr val="000000"/>
                </a:solidFill>
                <a:effectLst/>
                <a:latin typeface="vazir"/>
                <a:cs typeface="B Mitra" panose="00000400000000000000" pitchFamily="2" charset="-78"/>
              </a:rPr>
              <a:t>شات های کوتاه یا همان پر نشدن های ناقص در فرآیند قالب گیری تزریقی می تواند قطعه را ناقص و بی استفاده کند. این اتفاق زمانی رخ می‌دهد که حفره های داخل قالب به طور کامل توسط مواد مذاب اولیه پر نمی شوند</a:t>
            </a:r>
            <a:r>
              <a:rPr lang="fa-IR" dirty="0">
                <a:solidFill>
                  <a:srgbClr val="000000"/>
                </a:solidFill>
                <a:latin typeface="vazir"/>
                <a:cs typeface="B Mitra" panose="00000400000000000000" pitchFamily="2" charset="-78"/>
              </a:rPr>
              <a:t> (به دلیل عدم وجود فشار کافی از سوی دستگاه)</a:t>
            </a:r>
            <a:r>
              <a:rPr lang="fa-IR" b="0" i="0" dirty="0">
                <a:solidFill>
                  <a:srgbClr val="000000"/>
                </a:solidFill>
                <a:effectLst/>
                <a:latin typeface="vazir"/>
                <a:cs typeface="B Mitra" panose="00000400000000000000" pitchFamily="2" charset="-78"/>
              </a:rPr>
              <a:t>. مشکلات دستگاه یا قالب طراحی و یا ویسکوزیته پایین مواد هم از سایر علل این اتفاق است.</a:t>
            </a:r>
          </a:p>
          <a:p>
            <a:pPr algn="r" rtl="1" fontAlgn="base">
              <a:spcAft>
                <a:spcPts val="1500"/>
              </a:spcAft>
              <a:buNone/>
            </a:pPr>
            <a:r>
              <a:rPr lang="fa-IR" b="0" i="0" dirty="0">
                <a:solidFill>
                  <a:srgbClr val="000000"/>
                </a:solidFill>
                <a:effectLst/>
                <a:latin typeface="vazir"/>
                <a:cs typeface="B Mitra" panose="00000400000000000000" pitchFamily="2" charset="-78"/>
              </a:rPr>
              <a:t>برای حل کردن این مشکل می توان از مواد اولیه پتروشیمی و گریدهای پلیمری و ترموپلاستیکی با کیفیت استفاده کرد. همچنین طراحی قالب مناسب هم می تواند از بروز این مشکل جلوگیری کند..</a:t>
            </a:r>
          </a:p>
          <a:p>
            <a:pPr algn="r" rtl="1" fontAlgn="base">
              <a:spcAft>
                <a:spcPts val="750"/>
              </a:spcAft>
              <a:buNone/>
            </a:pPr>
            <a:r>
              <a:rPr lang="fa-IR" b="1" i="0" dirty="0">
                <a:solidFill>
                  <a:srgbClr val="990033"/>
                </a:solidFill>
                <a:effectLst/>
                <a:latin typeface="vazir"/>
                <a:cs typeface="B Mitra" panose="00000400000000000000" pitchFamily="2" charset="-78"/>
              </a:rPr>
              <a:t>پلیسه‌ زدگی </a:t>
            </a:r>
            <a:r>
              <a:rPr lang="en-US" b="1" i="0" dirty="0">
                <a:solidFill>
                  <a:srgbClr val="990033"/>
                </a:solidFill>
                <a:effectLst/>
                <a:latin typeface="vazir"/>
                <a:cs typeface="B Mitra" panose="00000400000000000000" pitchFamily="2" charset="-78"/>
              </a:rPr>
              <a:t>(Flash)</a:t>
            </a:r>
            <a:endParaRPr lang="fa-IR" b="1" i="0" dirty="0">
              <a:solidFill>
                <a:srgbClr val="990033"/>
              </a:solidFill>
              <a:effectLst/>
              <a:latin typeface="vazir"/>
              <a:cs typeface="B Mitra" panose="00000400000000000000" pitchFamily="2" charset="-78"/>
            </a:endParaRPr>
          </a:p>
          <a:p>
            <a:pPr algn="r" rtl="1" fontAlgn="base">
              <a:spcAft>
                <a:spcPts val="750"/>
              </a:spcAft>
            </a:pPr>
            <a:r>
              <a:rPr lang="fa-IR" dirty="0">
                <a:solidFill>
                  <a:srgbClr val="262626"/>
                </a:solidFill>
                <a:latin typeface="vazir"/>
                <a:cs typeface="B Mitra" panose="00000400000000000000" pitchFamily="2" charset="-78"/>
              </a:rPr>
              <a:t>پلیسه زمانی ایجاد می‌شود که پلاستیک مذاب از درز میان دو نیمه قالب خارج شود و در بیرون از حفره‌ی قالب جامد شود. معمولاً پلیسه نزدیک پین‌های پران دیده می‌شود.</a:t>
            </a:r>
          </a:p>
          <a:p>
            <a:pPr algn="r" rtl="1" fontAlgn="base">
              <a:spcAft>
                <a:spcPts val="750"/>
              </a:spcAft>
              <a:buNone/>
            </a:pPr>
            <a:r>
              <a:rPr lang="fa-IR" i="0" dirty="0">
                <a:solidFill>
                  <a:srgbClr val="262626"/>
                </a:solidFill>
                <a:effectLst/>
                <a:latin typeface="vazir"/>
                <a:cs typeface="B Mitra" panose="00000400000000000000" pitchFamily="2" charset="-78"/>
              </a:rPr>
              <a:t>معمولاً در اثر فشار بالای تزریق، فرسودگی قالب، هم‌راستا نبودن صفحات قالب یا خرابی سیستم گیره به وجود می‌آید.</a:t>
            </a:r>
          </a:p>
        </p:txBody>
      </p:sp>
      <p:pic>
        <p:nvPicPr>
          <p:cNvPr id="10" name="Picture 9">
            <a:extLst>
              <a:ext uri="{FF2B5EF4-FFF2-40B4-BE49-F238E27FC236}">
                <a16:creationId xmlns:a16="http://schemas.microsoft.com/office/drawing/2014/main" id="{B208F804-4B83-898D-1AD9-793DCE1F641C}"/>
              </a:ext>
            </a:extLst>
          </p:cNvPr>
          <p:cNvPicPr>
            <a:picLocks noChangeAspect="1"/>
          </p:cNvPicPr>
          <p:nvPr/>
        </p:nvPicPr>
        <p:blipFill>
          <a:blip r:embed="rId3"/>
          <a:srcRect r="18303" b="30159"/>
          <a:stretch>
            <a:fillRect/>
          </a:stretch>
        </p:blipFill>
        <p:spPr>
          <a:xfrm>
            <a:off x="770164" y="3825518"/>
            <a:ext cx="3835409" cy="1844350"/>
          </a:xfrm>
          <a:prstGeom prst="rect">
            <a:avLst/>
          </a:prstGeom>
        </p:spPr>
      </p:pic>
      <p:pic>
        <p:nvPicPr>
          <p:cNvPr id="12" name="Picture 11">
            <a:extLst>
              <a:ext uri="{FF2B5EF4-FFF2-40B4-BE49-F238E27FC236}">
                <a16:creationId xmlns:a16="http://schemas.microsoft.com/office/drawing/2014/main" id="{28983FB9-5BD0-29E3-D9DD-B3EAA5D1375A}"/>
              </a:ext>
            </a:extLst>
          </p:cNvPr>
          <p:cNvPicPr>
            <a:picLocks noChangeAspect="1"/>
          </p:cNvPicPr>
          <p:nvPr/>
        </p:nvPicPr>
        <p:blipFill>
          <a:blip r:embed="rId4"/>
          <a:srcRect t="8687"/>
          <a:stretch>
            <a:fillRect/>
          </a:stretch>
        </p:blipFill>
        <p:spPr>
          <a:xfrm>
            <a:off x="792247" y="1428667"/>
            <a:ext cx="3813326" cy="1958642"/>
          </a:xfrm>
          <a:prstGeom prst="rect">
            <a:avLst/>
          </a:prstGeom>
        </p:spPr>
      </p:pic>
    </p:spTree>
    <p:extLst>
      <p:ext uri="{BB962C8B-B14F-4D97-AF65-F5344CB8AC3E}">
        <p14:creationId xmlns:p14="http://schemas.microsoft.com/office/powerpoint/2010/main" val="335403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2000"/>
            <a:lum/>
          </a:blip>
          <a:srcRect/>
          <a:stretch>
            <a:fillRect l="-17000" r="-17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9E2252-4E9C-F128-372D-EC84691CC5EF}"/>
              </a:ext>
            </a:extLst>
          </p:cNvPr>
          <p:cNvSpPr txBox="1"/>
          <p:nvPr/>
        </p:nvSpPr>
        <p:spPr>
          <a:xfrm>
            <a:off x="4691743" y="583349"/>
            <a:ext cx="7075715" cy="5691302"/>
          </a:xfrm>
          <a:prstGeom prst="rect">
            <a:avLst/>
          </a:prstGeom>
          <a:noFill/>
        </p:spPr>
        <p:txBody>
          <a:bodyPr wrap="square">
            <a:spAutoFit/>
          </a:bodyPr>
          <a:lstStyle/>
          <a:p>
            <a:pPr algn="r" rtl="1" fontAlgn="base">
              <a:spcAft>
                <a:spcPts val="750"/>
              </a:spcAft>
              <a:buNone/>
            </a:pPr>
            <a:r>
              <a:rPr lang="fa-IR" sz="1800" b="1" i="0" dirty="0">
                <a:solidFill>
                  <a:srgbClr val="990033"/>
                </a:solidFill>
                <a:effectLst/>
                <a:latin typeface="vazir"/>
                <a:cs typeface="B Mitra" panose="00000400000000000000" pitchFamily="2" charset="-78"/>
              </a:rPr>
              <a:t>جتینگ </a:t>
            </a:r>
            <a:r>
              <a:rPr lang="en-US" sz="1800" b="1" i="0" dirty="0">
                <a:solidFill>
                  <a:srgbClr val="990033"/>
                </a:solidFill>
                <a:effectLst/>
                <a:latin typeface="vazir"/>
                <a:cs typeface="B Mitra" panose="00000400000000000000" pitchFamily="2" charset="-78"/>
              </a:rPr>
              <a:t>(Jetting)</a:t>
            </a:r>
            <a:r>
              <a:rPr lang="fa-IR" sz="1800" b="1" i="0" dirty="0">
                <a:solidFill>
                  <a:srgbClr val="990033"/>
                </a:solidFill>
                <a:effectLst/>
                <a:latin typeface="vazir"/>
                <a:cs typeface="B Mitra" panose="00000400000000000000" pitchFamily="2" charset="-78"/>
              </a:rPr>
              <a:t> </a:t>
            </a:r>
            <a:endParaRPr lang="fa-IR" sz="1800" b="1" i="0" dirty="0">
              <a:solidFill>
                <a:srgbClr val="000000"/>
              </a:solidFill>
              <a:effectLst/>
              <a:latin typeface="vazir"/>
              <a:cs typeface="B Mitra" panose="00000400000000000000" pitchFamily="2" charset="-78"/>
            </a:endParaRPr>
          </a:p>
          <a:p>
            <a:pPr algn="r" rtl="1" fontAlgn="base">
              <a:spcAft>
                <a:spcPts val="1500"/>
              </a:spcAft>
              <a:buNone/>
            </a:pPr>
            <a:r>
              <a:rPr lang="fa-IR" sz="1800" b="0" i="0" dirty="0">
                <a:solidFill>
                  <a:srgbClr val="000000"/>
                </a:solidFill>
                <a:effectLst/>
                <a:latin typeface="vazir"/>
                <a:cs typeface="B Mitra" panose="00000400000000000000" pitchFamily="2" charset="-78"/>
              </a:rPr>
              <a:t>پدیده جتینگ زمانی رخ می‌دهد که ماده پلاستیکی مذاب با سرعت بالا از یک گیت کوچک به داخل حفره بزرگ قالب تزریق می‌شود و خطوط مارپیچی یا رگه‌های مار مانند روی سطح قطعه ایجاد می‌کند.</a:t>
            </a:r>
          </a:p>
          <a:p>
            <a:pPr algn="r" rtl="1" fontAlgn="base">
              <a:spcAft>
                <a:spcPts val="1500"/>
              </a:spcAft>
              <a:buNone/>
            </a:pPr>
            <a:r>
              <a:rPr lang="fa-IR" sz="1800" b="0" i="0" dirty="0">
                <a:solidFill>
                  <a:srgbClr val="000000"/>
                </a:solidFill>
                <a:effectLst/>
                <a:latin typeface="vazir"/>
                <a:cs typeface="B Mitra" panose="00000400000000000000" pitchFamily="2" charset="-78"/>
              </a:rPr>
              <a:t>دلایل رایج جتینگ: سرعت تزریق زیاد، دمای نامناسب سیلندر یا نازل، کوچک بودن دهانه نازل یا راهگاه‌ها و طراحی نامناسب قالب می‌تواند علت این نقص باشد.</a:t>
            </a:r>
          </a:p>
          <a:p>
            <a:pPr algn="r" rtl="1" fontAlgn="base">
              <a:spcAft>
                <a:spcPts val="1500"/>
              </a:spcAft>
              <a:buNone/>
            </a:pPr>
            <a:r>
              <a:rPr lang="fa-IR" sz="1800" b="0" i="0" dirty="0">
                <a:solidFill>
                  <a:srgbClr val="000000"/>
                </a:solidFill>
                <a:effectLst/>
                <a:latin typeface="vazir"/>
                <a:cs typeface="B Mitra" panose="00000400000000000000" pitchFamily="2" charset="-78"/>
              </a:rPr>
              <a:t> برای جلوگیری از بروز این اتفاق باید دمای قالب و رزین زیادتر شود و یا فشار ورود مواد به قالب را کمتر کرد. البته قرار دادن یک گیت برای عبور رزین از قسمت های کوتاه قالب نیز می تواند بروز این عیب را تا حد بسیار زیادی کنترل کند.</a:t>
            </a:r>
          </a:p>
          <a:p>
            <a:pPr algn="r" rtl="1" fontAlgn="base">
              <a:spcAft>
                <a:spcPts val="750"/>
              </a:spcAft>
              <a:buNone/>
            </a:pPr>
            <a:r>
              <a:rPr lang="fa-IR" sz="1800" b="1" i="0" dirty="0">
                <a:solidFill>
                  <a:srgbClr val="990033"/>
                </a:solidFill>
                <a:effectLst/>
                <a:latin typeface="vazir"/>
                <a:cs typeface="B Mitra" panose="00000400000000000000" pitchFamily="2" charset="-78"/>
              </a:rPr>
              <a:t>تاب برداشتن</a:t>
            </a:r>
            <a:r>
              <a:rPr lang="en-US" sz="1800" b="1" i="0" dirty="0">
                <a:solidFill>
                  <a:srgbClr val="990033"/>
                </a:solidFill>
                <a:effectLst/>
                <a:latin typeface="vazir"/>
                <a:cs typeface="B Mitra" panose="00000400000000000000" pitchFamily="2" charset="-78"/>
              </a:rPr>
              <a:t>  (Warping) </a:t>
            </a:r>
            <a:endParaRPr lang="fa-IR" sz="1800" b="1" i="0" dirty="0">
              <a:solidFill>
                <a:srgbClr val="000000"/>
              </a:solidFill>
              <a:effectLst/>
              <a:latin typeface="vazir"/>
              <a:cs typeface="B Mitra" panose="00000400000000000000" pitchFamily="2" charset="-78"/>
            </a:endParaRPr>
          </a:p>
          <a:p>
            <a:pPr algn="r" rtl="1" fontAlgn="base">
              <a:spcAft>
                <a:spcPts val="1500"/>
              </a:spcAft>
              <a:buNone/>
            </a:pPr>
            <a:r>
              <a:rPr lang="fa-IR" sz="1800" b="0" i="0" dirty="0">
                <a:solidFill>
                  <a:srgbClr val="000000"/>
                </a:solidFill>
                <a:effectLst/>
                <a:latin typeface="vazir"/>
                <a:cs typeface="B Mitra" panose="00000400000000000000" pitchFamily="2" charset="-78"/>
              </a:rPr>
              <a:t>اب برداشتن به تغییر شکل، انحنا یا پیچیدگی ناخواسته قطعه پس از خنک شدن گفته می‌شود که باعث می‌شود قطعه از ابعاد دفرمه شده و کارایی خود را از دست بدهد.</a:t>
            </a:r>
          </a:p>
          <a:p>
            <a:pPr algn="r" rtl="1" fontAlgn="base">
              <a:spcAft>
                <a:spcPts val="1500"/>
              </a:spcAft>
              <a:buNone/>
            </a:pPr>
            <a:r>
              <a:rPr lang="fa-IR" sz="1800" b="0" i="0" dirty="0">
                <a:solidFill>
                  <a:srgbClr val="000000"/>
                </a:solidFill>
                <a:effectLst/>
                <a:latin typeface="vazir"/>
                <a:cs typeface="B Mitra" panose="00000400000000000000" pitchFamily="2" charset="-78"/>
              </a:rPr>
              <a:t>علل رایج تاب برداشتگی: خنک شدن غیر یکنواخت قطعه، فشار یا زمان تزریق ناکافی، استرس‌های باقیمانده در قطعه و طراحی نامناسب می‌تواند باعث تاب برداشتن شود.</a:t>
            </a:r>
          </a:p>
          <a:p>
            <a:pPr algn="r" rtl="1" fontAlgn="base">
              <a:spcAft>
                <a:spcPts val="1500"/>
              </a:spcAft>
              <a:buNone/>
            </a:pPr>
            <a:r>
              <a:rPr lang="fa-IR" sz="1800" b="0" i="0" dirty="0">
                <a:solidFill>
                  <a:srgbClr val="000000"/>
                </a:solidFill>
                <a:effectLst/>
                <a:latin typeface="vazir"/>
                <a:cs typeface="B Mitra" panose="00000400000000000000" pitchFamily="2" charset="-78"/>
              </a:rPr>
              <a:t>برای جلوگیری از تاب‌ برداشتگی، خنک شدن یکنواخت قطعه بسیار حیاتی است. این امر با طراحی قالب‌هایی با ضخامت دیواره یکنواخت و بهینه‌سازی کانال‌های خنک‌کننده قابل دستیابی است. همچنین کنترل دمای قالب و ماده پلاستیکی و تنظیم زمان خنک‌کاری نیز به حفظ شکل نهایی قطعه کمک می‌کند.</a:t>
            </a:r>
          </a:p>
        </p:txBody>
      </p:sp>
      <p:pic>
        <p:nvPicPr>
          <p:cNvPr id="7" name="Picture 6">
            <a:extLst>
              <a:ext uri="{FF2B5EF4-FFF2-40B4-BE49-F238E27FC236}">
                <a16:creationId xmlns:a16="http://schemas.microsoft.com/office/drawing/2014/main" id="{EDBFFFA0-A313-6D16-3C3D-152D322E8C49}"/>
              </a:ext>
            </a:extLst>
          </p:cNvPr>
          <p:cNvPicPr>
            <a:picLocks noChangeAspect="1"/>
          </p:cNvPicPr>
          <p:nvPr/>
        </p:nvPicPr>
        <p:blipFill>
          <a:blip r:embed="rId3"/>
          <a:srcRect b="15968"/>
          <a:stretch>
            <a:fillRect/>
          </a:stretch>
        </p:blipFill>
        <p:spPr>
          <a:xfrm>
            <a:off x="696686" y="3777344"/>
            <a:ext cx="3600824" cy="1702033"/>
          </a:xfrm>
          <a:prstGeom prst="rect">
            <a:avLst/>
          </a:prstGeom>
        </p:spPr>
      </p:pic>
      <p:pic>
        <p:nvPicPr>
          <p:cNvPr id="8" name="Picture 7">
            <a:extLst>
              <a:ext uri="{FF2B5EF4-FFF2-40B4-BE49-F238E27FC236}">
                <a16:creationId xmlns:a16="http://schemas.microsoft.com/office/drawing/2014/main" id="{A436F0D0-F0FE-9472-3E06-6191D4342986}"/>
              </a:ext>
            </a:extLst>
          </p:cNvPr>
          <p:cNvPicPr>
            <a:picLocks noChangeAspect="1"/>
          </p:cNvPicPr>
          <p:nvPr/>
        </p:nvPicPr>
        <p:blipFill>
          <a:blip r:embed="rId4"/>
          <a:srcRect l="11808" r="9715" b="18170"/>
          <a:stretch>
            <a:fillRect/>
          </a:stretch>
        </p:blipFill>
        <p:spPr>
          <a:xfrm>
            <a:off x="696686" y="1143629"/>
            <a:ext cx="3559628" cy="2087880"/>
          </a:xfrm>
          <a:prstGeom prst="rect">
            <a:avLst/>
          </a:prstGeom>
        </p:spPr>
      </p:pic>
    </p:spTree>
    <p:extLst>
      <p:ext uri="{BB962C8B-B14F-4D97-AF65-F5344CB8AC3E}">
        <p14:creationId xmlns:p14="http://schemas.microsoft.com/office/powerpoint/2010/main" val="3120710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l="-33000" r="-33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2B5ABF-4115-4861-C432-30A761A5E282}"/>
              </a:ext>
            </a:extLst>
          </p:cNvPr>
          <p:cNvSpPr txBox="1"/>
          <p:nvPr/>
        </p:nvSpPr>
        <p:spPr>
          <a:xfrm>
            <a:off x="4822371" y="634645"/>
            <a:ext cx="6901543" cy="5588709"/>
          </a:xfrm>
          <a:prstGeom prst="rect">
            <a:avLst/>
          </a:prstGeom>
          <a:noFill/>
        </p:spPr>
        <p:txBody>
          <a:bodyPr wrap="square">
            <a:spAutoFit/>
          </a:bodyPr>
          <a:lstStyle/>
          <a:p>
            <a:pPr algn="r" rtl="1" fontAlgn="base">
              <a:spcAft>
                <a:spcPts val="750"/>
              </a:spcAft>
              <a:buNone/>
            </a:pPr>
            <a:r>
              <a:rPr lang="fa-IR" b="1" i="0" dirty="0">
                <a:solidFill>
                  <a:srgbClr val="990033"/>
                </a:solidFill>
                <a:effectLst/>
                <a:latin typeface="vazir"/>
                <a:cs typeface="B Mitra" panose="00000400000000000000" pitchFamily="2" charset="-78"/>
              </a:rPr>
              <a:t>خطوط جریان </a:t>
            </a:r>
            <a:r>
              <a:rPr lang="en-US" b="1" i="0" dirty="0">
                <a:solidFill>
                  <a:srgbClr val="990033"/>
                </a:solidFill>
                <a:effectLst/>
                <a:latin typeface="vazir"/>
                <a:cs typeface="B Mitra" panose="00000400000000000000" pitchFamily="2" charset="-78"/>
              </a:rPr>
              <a:t> (Flow marks)</a:t>
            </a:r>
            <a:endParaRPr lang="fa-IR" b="1" i="0" dirty="0">
              <a:solidFill>
                <a:srgbClr val="000000"/>
              </a:solidFill>
              <a:effectLst/>
              <a:latin typeface="vazir"/>
              <a:cs typeface="B Mitra" panose="00000400000000000000" pitchFamily="2" charset="-78"/>
            </a:endParaRPr>
          </a:p>
          <a:p>
            <a:pPr algn="r" rtl="1" fontAlgn="base">
              <a:spcAft>
                <a:spcPts val="1500"/>
              </a:spcAft>
              <a:buNone/>
            </a:pPr>
            <a:r>
              <a:rPr lang="fa-IR" b="0" i="0" dirty="0">
                <a:solidFill>
                  <a:srgbClr val="000000"/>
                </a:solidFill>
                <a:effectLst/>
                <a:latin typeface="vazir"/>
                <a:cs typeface="B Mitra" panose="00000400000000000000" pitchFamily="2" charset="-78"/>
              </a:rPr>
              <a:t>خطوط جریان از جمله رایج‌ترین مشکلات تزریق پلاستیک هستند که به صورت رگه‌ها یا خطوطی بر سطح قطعه نمایان می‌شوند. این خطوط اغلب دارای رنگ یا سایه‌ای متفاوت نسبت به سایر بخش‌های قطعه هستند؛ پدیده‌ای که نشان‌دهنده خنک‌سازی مواد مذاب با نرخ‌های نامتوازن است.</a:t>
            </a:r>
          </a:p>
          <a:p>
            <a:pPr algn="r" rtl="1" fontAlgn="base">
              <a:spcAft>
                <a:spcPts val="1500"/>
              </a:spcAft>
              <a:buNone/>
            </a:pPr>
            <a:r>
              <a:rPr lang="fa-IR" b="0" i="0" dirty="0">
                <a:solidFill>
                  <a:srgbClr val="000000"/>
                </a:solidFill>
                <a:effectLst/>
                <a:latin typeface="vazir"/>
                <a:cs typeface="B Mitra" panose="00000400000000000000" pitchFamily="2" charset="-78"/>
              </a:rPr>
              <a:t>دلایل رایج ایجاد خطوط جریان: طراحی نامناسب قالب، فشار یا سرعت تزریق ناکافی، یا دمای پایین قالب می‌تواند باعث ایجاد این نقص شود. </a:t>
            </a:r>
          </a:p>
          <a:p>
            <a:pPr algn="r" rtl="1" fontAlgn="base">
              <a:spcAft>
                <a:spcPts val="1500"/>
              </a:spcAft>
              <a:buNone/>
            </a:pPr>
            <a:r>
              <a:rPr lang="fa-IR" b="0" i="0" dirty="0">
                <a:solidFill>
                  <a:srgbClr val="000000"/>
                </a:solidFill>
                <a:effectLst/>
                <a:latin typeface="vazir"/>
                <a:cs typeface="B Mitra" panose="00000400000000000000" pitchFamily="2" charset="-78"/>
              </a:rPr>
              <a:t>تنظیم سرعت و فشار تزریق می‌تواند به‌طور قابل‌توجهی از بروز خطوط جریان جلوگیری کند. افزایش دمای پلاستیک مذاب و قالب نیز با تضمین جریان یکنواخت و فرآیند خنک‌سازی همسان، مؤثر است.طراحی بهینه مسیرهای ورود ماده (گیت‌ها) و اصلاح طراحی قالب برای تسهیل جریان نرم‌تر پلاستیک، از دیگر راهکارهای مؤثر در جلوگیری از ایجاد خطوط جریان هستند.</a:t>
            </a:r>
          </a:p>
          <a:p>
            <a:pPr algn="r" rtl="1" fontAlgn="base">
              <a:spcAft>
                <a:spcPts val="1500"/>
              </a:spcAft>
              <a:buNone/>
            </a:pPr>
            <a:r>
              <a:rPr lang="fa-IR" b="1" i="0" dirty="0">
                <a:solidFill>
                  <a:srgbClr val="990033"/>
                </a:solidFill>
                <a:effectLst/>
                <a:latin typeface="vazir"/>
                <a:cs typeface="B Mitra" panose="00000400000000000000" pitchFamily="2" charset="-78"/>
              </a:rPr>
              <a:t>خطوط جوش </a:t>
            </a:r>
            <a:r>
              <a:rPr lang="en-US" b="1" i="0" dirty="0">
                <a:solidFill>
                  <a:srgbClr val="990033"/>
                </a:solidFill>
                <a:effectLst/>
                <a:latin typeface="vazir"/>
                <a:cs typeface="B Mitra" panose="00000400000000000000" pitchFamily="2" charset="-78"/>
              </a:rPr>
              <a:t>(weld lines , knit lines)</a:t>
            </a:r>
          </a:p>
          <a:p>
            <a:pPr algn="r" rtl="1" fontAlgn="base">
              <a:spcAft>
                <a:spcPts val="1500"/>
              </a:spcAft>
              <a:buNone/>
            </a:pPr>
            <a:r>
              <a:rPr lang="fa-IR" b="0" i="0" dirty="0">
                <a:solidFill>
                  <a:srgbClr val="000000"/>
                </a:solidFill>
                <a:effectLst/>
                <a:latin typeface="vazir"/>
                <a:cs typeface="B Mitra" panose="00000400000000000000" pitchFamily="2" charset="-78"/>
              </a:rPr>
              <a:t>خطوط جوش یا خطوط اتصال زمانی ایجاد می‌شوند که دو جبهه از پلاستیک مذاب به هم رسیده و بدون پیوند کامل با یکدیگر منجمد می‌شوند. این خطوط به صورت نشانه‌هایی قابل مشاهده بر سطح قطعه ظاهر شده و می‌توانند بر ظاهر و یکپارچگی ساختاری آن تأثیر منفی بگذارند.</a:t>
            </a:r>
          </a:p>
          <a:p>
            <a:pPr algn="r" rtl="1" fontAlgn="base">
              <a:spcAft>
                <a:spcPts val="1500"/>
              </a:spcAft>
              <a:buNone/>
            </a:pPr>
            <a:r>
              <a:rPr lang="fa-IR" b="0" i="0" dirty="0">
                <a:solidFill>
                  <a:srgbClr val="000000"/>
                </a:solidFill>
                <a:effectLst/>
                <a:latin typeface="vazir"/>
                <a:cs typeface="B Mitra" panose="00000400000000000000" pitchFamily="2" charset="-78"/>
              </a:rPr>
              <a:t>دلایل رایج ایجاد خطوط جوش: خطوط جوش می‌توانند به دلایل مختلفی مانند طراحی قطعه، نوع ماده مصرفی، یا شرایط فرآیندی به وجود آیند.</a:t>
            </a:r>
          </a:p>
        </p:txBody>
      </p:sp>
      <p:pic>
        <p:nvPicPr>
          <p:cNvPr id="4" name="Picture 3">
            <a:extLst>
              <a:ext uri="{FF2B5EF4-FFF2-40B4-BE49-F238E27FC236}">
                <a16:creationId xmlns:a16="http://schemas.microsoft.com/office/drawing/2014/main" id="{E7BFE672-67DC-5392-D67F-6A8BC5AD20D5}"/>
              </a:ext>
            </a:extLst>
          </p:cNvPr>
          <p:cNvPicPr>
            <a:picLocks noChangeAspect="1"/>
          </p:cNvPicPr>
          <p:nvPr/>
        </p:nvPicPr>
        <p:blipFill>
          <a:blip r:embed="rId3"/>
          <a:stretch>
            <a:fillRect/>
          </a:stretch>
        </p:blipFill>
        <p:spPr>
          <a:xfrm>
            <a:off x="685798" y="1279752"/>
            <a:ext cx="3820885" cy="2149248"/>
          </a:xfrm>
          <a:prstGeom prst="rect">
            <a:avLst/>
          </a:prstGeom>
        </p:spPr>
      </p:pic>
      <p:pic>
        <p:nvPicPr>
          <p:cNvPr id="5" name="Picture 4">
            <a:extLst>
              <a:ext uri="{FF2B5EF4-FFF2-40B4-BE49-F238E27FC236}">
                <a16:creationId xmlns:a16="http://schemas.microsoft.com/office/drawing/2014/main" id="{499183D4-D7C6-3F45-F703-5FE146B84BF8}"/>
              </a:ext>
            </a:extLst>
          </p:cNvPr>
          <p:cNvPicPr>
            <a:picLocks noChangeAspect="1"/>
          </p:cNvPicPr>
          <p:nvPr/>
        </p:nvPicPr>
        <p:blipFill>
          <a:blip r:embed="rId4"/>
          <a:srcRect b="17706"/>
          <a:stretch>
            <a:fillRect/>
          </a:stretch>
        </p:blipFill>
        <p:spPr>
          <a:xfrm>
            <a:off x="685799" y="3842657"/>
            <a:ext cx="3820885" cy="1768707"/>
          </a:xfrm>
          <a:prstGeom prst="rect">
            <a:avLst/>
          </a:prstGeom>
        </p:spPr>
      </p:pic>
    </p:spTree>
    <p:extLst>
      <p:ext uri="{BB962C8B-B14F-4D97-AF65-F5344CB8AC3E}">
        <p14:creationId xmlns:p14="http://schemas.microsoft.com/office/powerpoint/2010/main" val="4231532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2000"/>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7F8A000-B9C5-1CFA-B566-EAE397FEC570}"/>
              </a:ext>
            </a:extLst>
          </p:cNvPr>
          <p:cNvSpPr txBox="1"/>
          <p:nvPr/>
        </p:nvSpPr>
        <p:spPr>
          <a:xfrm>
            <a:off x="4811486" y="2570337"/>
            <a:ext cx="6569528" cy="3434273"/>
          </a:xfrm>
          <a:prstGeom prst="rect">
            <a:avLst/>
          </a:prstGeom>
          <a:noFill/>
        </p:spPr>
        <p:txBody>
          <a:bodyPr wrap="square">
            <a:spAutoFit/>
          </a:bodyPr>
          <a:lstStyle/>
          <a:p>
            <a:pPr algn="r" rtl="1" fontAlgn="base">
              <a:spcAft>
                <a:spcPts val="750"/>
              </a:spcAft>
              <a:buNone/>
            </a:pPr>
            <a:r>
              <a:rPr lang="fa-IR" b="1" dirty="0">
                <a:solidFill>
                  <a:srgbClr val="990033"/>
                </a:solidFill>
                <a:latin typeface="vazir"/>
                <a:cs typeface="B Mitra" panose="00000400000000000000" pitchFamily="2" charset="-78"/>
              </a:rPr>
              <a:t>بخش های فرو رفته </a:t>
            </a:r>
            <a:r>
              <a:rPr lang="en-US" b="1" dirty="0">
                <a:solidFill>
                  <a:srgbClr val="990033"/>
                </a:solidFill>
                <a:latin typeface="vazir"/>
                <a:cs typeface="B Mitra" panose="00000400000000000000" pitchFamily="2" charset="-78"/>
              </a:rPr>
              <a:t>(Sink Marks)</a:t>
            </a:r>
            <a:endParaRPr lang="fa-IR" b="1" dirty="0">
              <a:solidFill>
                <a:srgbClr val="000000"/>
              </a:solidFill>
              <a:latin typeface="vazir"/>
              <a:cs typeface="B Mitra" panose="00000400000000000000" pitchFamily="2" charset="-78"/>
            </a:endParaRPr>
          </a:p>
          <a:p>
            <a:pPr algn="r" rtl="1" fontAlgn="base">
              <a:spcAft>
                <a:spcPts val="1500"/>
              </a:spcAft>
              <a:buNone/>
            </a:pPr>
            <a:r>
              <a:rPr lang="fa-IR" dirty="0">
                <a:solidFill>
                  <a:srgbClr val="000000"/>
                </a:solidFill>
                <a:latin typeface="vazir"/>
                <a:cs typeface="B Mitra" panose="00000400000000000000" pitchFamily="2" charset="-78"/>
              </a:rPr>
              <a:t>ایجاد فرورفتگی در قطعات پلاستیکی بیشتر در قسمت های ضخیم قابل مشاهده است. در قسمت های ضخیم،لایه های سطحی (پوسته) سریعا در برخورد با قالب منجمد میشود؛اما مغز داخلی قطعه دیرتر خنک میشود.انقباض حجمی ناشی از خنک شدن دیرهنگام مرکز قطعه،پوسته ی جامد شده ی بیرون بیرونی را به داخل میکشد و عیب </a:t>
            </a:r>
            <a:r>
              <a:rPr lang="en-US" dirty="0">
                <a:solidFill>
                  <a:srgbClr val="000000"/>
                </a:solidFill>
                <a:latin typeface="vazir"/>
                <a:cs typeface="B Mitra" panose="00000400000000000000" pitchFamily="2" charset="-78"/>
              </a:rPr>
              <a:t>Sink Mark</a:t>
            </a:r>
            <a:r>
              <a:rPr lang="fa-IR" dirty="0">
                <a:solidFill>
                  <a:srgbClr val="000000"/>
                </a:solidFill>
                <a:latin typeface="vazir"/>
                <a:cs typeface="B Mitra" panose="00000400000000000000" pitchFamily="2" charset="-78"/>
              </a:rPr>
              <a:t> رو ایجاد میکند.</a:t>
            </a:r>
          </a:p>
          <a:p>
            <a:pPr algn="r" rtl="1" fontAlgn="base">
              <a:spcAft>
                <a:spcPts val="1500"/>
              </a:spcAft>
              <a:buNone/>
            </a:pPr>
            <a:r>
              <a:rPr lang="fa-IR" dirty="0">
                <a:cs typeface="B Mitra" panose="00000400000000000000" pitchFamily="2" charset="-78"/>
              </a:rPr>
              <a:t>برای پیشگیری از فرورفتگی، باید در طراحی قطعه تا حد امکان ضخامت دیواره‌ها یکنواخت باشد. تنظیم فشار و زمان نگهداری پس از تزریق نیز مؤثر است؛ چرا که جبران انقباض مواد در نواحی ضخیم‌تر را ممکن می‌کند. بهینه‌سازی سیستم خنک‌کننده قالب به‌منظور ایجاد خنک‌سازی یکنواخت نیز به شکل قابل توجهی از بروز فرورفتگی‌ها جلوگیری می‌کند.</a:t>
            </a:r>
            <a:br>
              <a:rPr lang="fa-IR" dirty="0">
                <a:cs typeface="B Mitra" panose="00000400000000000000" pitchFamily="2" charset="-78"/>
              </a:rPr>
            </a:br>
            <a:r>
              <a:rPr lang="fa-IR" dirty="0">
                <a:cs typeface="B Mitra" panose="00000400000000000000" pitchFamily="2" charset="-78"/>
              </a:rPr>
              <a:t>به طور کلی، اطمینان از بسته شدن صحیح قالب، اعمال فشار گیره‌ی کافی، و تنظیم دقیق فشار تزریق و حجم مواد ورودی الزامی است.</a:t>
            </a:r>
            <a:endParaRPr lang="en-US" dirty="0">
              <a:cs typeface="B Mitra" panose="00000400000000000000" pitchFamily="2" charset="-78"/>
            </a:endParaRPr>
          </a:p>
        </p:txBody>
      </p:sp>
      <p:sp>
        <p:nvSpPr>
          <p:cNvPr id="7" name="TextBox 6">
            <a:extLst>
              <a:ext uri="{FF2B5EF4-FFF2-40B4-BE49-F238E27FC236}">
                <a16:creationId xmlns:a16="http://schemas.microsoft.com/office/drawing/2014/main" id="{E54E543A-C36F-88B6-1A34-2E983DC6D867}"/>
              </a:ext>
            </a:extLst>
          </p:cNvPr>
          <p:cNvSpPr txBox="1"/>
          <p:nvPr/>
        </p:nvSpPr>
        <p:spPr>
          <a:xfrm>
            <a:off x="1034143" y="805402"/>
            <a:ext cx="10346871" cy="1754326"/>
          </a:xfrm>
          <a:prstGeom prst="rect">
            <a:avLst/>
          </a:prstGeom>
          <a:noFill/>
        </p:spPr>
        <p:txBody>
          <a:bodyPr wrap="square">
            <a:spAutoFit/>
          </a:bodyPr>
          <a:lstStyle/>
          <a:p>
            <a:pPr algn="r" rtl="1"/>
            <a:r>
              <a:rPr lang="fa-IR" dirty="0">
                <a:cs typeface="B Mitra" panose="00000400000000000000" pitchFamily="2" charset="-78"/>
              </a:rPr>
              <a:t>بهبود طراحی قالب برای هدایت یکنواخت‌تر جریان پلاستیک می‌تواند تا حد زیادی از بروز خطوط جوش جلوگیری کند. بهینه‌سازی سرعت و فشار تزریق و انتخاب مواد اولیه مناسب نیز احتمال پیوند موفق جریان‌های پلاستیک را افزایش می‌دهد. همچنین تنظیم دمای قالب و پلاستیک مذاب نقش مهمی در کاهش این نقص دارد.</a:t>
            </a:r>
          </a:p>
          <a:p>
            <a:pPr algn="r" rtl="1"/>
            <a:r>
              <a:rPr lang="fa-IR" dirty="0">
                <a:cs typeface="B Mitra" panose="00000400000000000000" pitchFamily="2" charset="-78"/>
              </a:rPr>
              <a:t>در صورت ایجاد خطوط جوش، گاهی اوقات می‌توان با عملیات پس از قالب‌گیری مانند حرارت‌دهی یا پرداخت سطحی، آن‌ها را کاهش داد یا از بین برد. در غیر این صورت، ممکن است نیاز به قالب‌گیری مجدد قطعه باشد.</a:t>
            </a:r>
          </a:p>
          <a:p>
            <a:pPr algn="r" rtl="1"/>
            <a:endParaRPr lang="fa-IR" dirty="0"/>
          </a:p>
        </p:txBody>
      </p:sp>
      <p:pic>
        <p:nvPicPr>
          <p:cNvPr id="11" name="Picture 10">
            <a:extLst>
              <a:ext uri="{FF2B5EF4-FFF2-40B4-BE49-F238E27FC236}">
                <a16:creationId xmlns:a16="http://schemas.microsoft.com/office/drawing/2014/main" id="{EBDBBF02-E624-AEB5-17D5-5E161B08E6E2}"/>
              </a:ext>
            </a:extLst>
          </p:cNvPr>
          <p:cNvPicPr>
            <a:picLocks noChangeAspect="1"/>
          </p:cNvPicPr>
          <p:nvPr/>
        </p:nvPicPr>
        <p:blipFill>
          <a:blip r:embed="rId3"/>
          <a:srcRect l="5271" b="16571"/>
          <a:stretch>
            <a:fillRect/>
          </a:stretch>
        </p:blipFill>
        <p:spPr>
          <a:xfrm>
            <a:off x="810986" y="2452943"/>
            <a:ext cx="3597729" cy="1782315"/>
          </a:xfrm>
          <a:prstGeom prst="rect">
            <a:avLst/>
          </a:prstGeom>
        </p:spPr>
      </p:pic>
      <p:pic>
        <p:nvPicPr>
          <p:cNvPr id="9" name="Picture 8">
            <a:extLst>
              <a:ext uri="{FF2B5EF4-FFF2-40B4-BE49-F238E27FC236}">
                <a16:creationId xmlns:a16="http://schemas.microsoft.com/office/drawing/2014/main" id="{30F9A6F2-EEDD-B8BD-DCA2-F2F37CE02A10}"/>
              </a:ext>
            </a:extLst>
          </p:cNvPr>
          <p:cNvPicPr>
            <a:picLocks noChangeAspect="1"/>
          </p:cNvPicPr>
          <p:nvPr/>
        </p:nvPicPr>
        <p:blipFill>
          <a:blip r:embed="rId4"/>
          <a:srcRect t="13285" b="17484"/>
          <a:stretch>
            <a:fillRect/>
          </a:stretch>
        </p:blipFill>
        <p:spPr>
          <a:xfrm>
            <a:off x="810986" y="4386943"/>
            <a:ext cx="3597729" cy="1683286"/>
          </a:xfrm>
          <a:prstGeom prst="rect">
            <a:avLst/>
          </a:prstGeom>
        </p:spPr>
      </p:pic>
    </p:spTree>
    <p:extLst>
      <p:ext uri="{BB962C8B-B14F-4D97-AF65-F5344CB8AC3E}">
        <p14:creationId xmlns:p14="http://schemas.microsoft.com/office/powerpoint/2010/main" val="1309272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CCC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F0D081-A4FA-801E-08F6-C0E9AA40AAFF}"/>
              </a:ext>
            </a:extLst>
          </p:cNvPr>
          <p:cNvPicPr>
            <a:picLocks noChangeAspect="1"/>
          </p:cNvPicPr>
          <p:nvPr/>
        </p:nvPicPr>
        <p:blipFill>
          <a:blip r:embed="rId2"/>
          <a:stretch>
            <a:fillRect/>
          </a:stretch>
        </p:blipFill>
        <p:spPr>
          <a:xfrm>
            <a:off x="0" y="0"/>
            <a:ext cx="5140171" cy="6858000"/>
          </a:xfrm>
          <a:prstGeom prst="rect">
            <a:avLst/>
          </a:prstGeom>
        </p:spPr>
      </p:pic>
      <p:sp>
        <p:nvSpPr>
          <p:cNvPr id="4" name="TextBox 3">
            <a:extLst>
              <a:ext uri="{FF2B5EF4-FFF2-40B4-BE49-F238E27FC236}">
                <a16:creationId xmlns:a16="http://schemas.microsoft.com/office/drawing/2014/main" id="{2165DB2E-B4E3-6D4A-A30E-7288B23A3C5B}"/>
              </a:ext>
            </a:extLst>
          </p:cNvPr>
          <p:cNvSpPr txBox="1"/>
          <p:nvPr/>
        </p:nvSpPr>
        <p:spPr>
          <a:xfrm>
            <a:off x="6496137" y="1116657"/>
            <a:ext cx="4015023" cy="1015663"/>
          </a:xfrm>
          <a:prstGeom prst="rect">
            <a:avLst/>
          </a:prstGeom>
          <a:noFill/>
        </p:spPr>
        <p:txBody>
          <a:bodyPr wrap="square" rtlCol="0">
            <a:spAutoFit/>
          </a:bodyPr>
          <a:lstStyle/>
          <a:p>
            <a:pPr algn="ctr"/>
            <a:r>
              <a:rPr lang="en-US" sz="6000" dirty="0">
                <a:solidFill>
                  <a:schemeClr val="accent1">
                    <a:lumMod val="50000"/>
                  </a:schemeClr>
                </a:solidFill>
                <a:latin typeface="Calisto MT" panose="02040603050505030304" pitchFamily="18" charset="0"/>
                <a:cs typeface="B Titr" panose="00000700000000000000" pitchFamily="2" charset="-78"/>
              </a:rPr>
              <a:t>Thank you</a:t>
            </a:r>
          </a:p>
        </p:txBody>
      </p:sp>
    </p:spTree>
    <p:extLst>
      <p:ext uri="{BB962C8B-B14F-4D97-AF65-F5344CB8AC3E}">
        <p14:creationId xmlns:p14="http://schemas.microsoft.com/office/powerpoint/2010/main" val="10215566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1139</TotalTime>
  <Words>4689</Words>
  <Application>Microsoft Office PowerPoint</Application>
  <PresentationFormat>Widescreen</PresentationFormat>
  <Paragraphs>149</Paragraphs>
  <Slides>26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B Mitra</vt:lpstr>
      <vt:lpstr>B Titr</vt:lpstr>
      <vt:lpstr>Calibri</vt:lpstr>
      <vt:lpstr>Calibri Light</vt:lpstr>
      <vt:lpstr>Calisto MT</vt:lpstr>
      <vt:lpstr>Symbol</vt:lpstr>
      <vt:lpstr>Times New Roman</vt:lpstr>
      <vt:lpstr>vazir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 Taheri</dc:creator>
  <cp:lastModifiedBy>Didana</cp:lastModifiedBy>
  <cp:revision>68</cp:revision>
  <dcterms:created xsi:type="dcterms:W3CDTF">2026-05-28T13:26:20Z</dcterms:created>
  <dcterms:modified xsi:type="dcterms:W3CDTF">2026-06-14T12:38:01Z</dcterms:modified>
</cp:coreProperties>
</file>